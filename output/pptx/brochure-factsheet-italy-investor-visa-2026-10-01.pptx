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562088" cy="10689336"/>
  <p:notesSz cx="10689336" cy="7562088"/>
  <p:embeddedFontLst>
    <p:embeddedFont>
      <p:font typeface="Heebo Light"/>
      <p:regular r:id="rId10"/>
    </p:embeddedFont>
    <p:embeddedFont>
      <p:font typeface="Heebo"/>
      <p:regular r:id="rId11"/>
    </p:embeddedFont>
    <p:embeddedFont>
      <p:font typeface="Heebo Medium"/>
      <p:regular r:id="rId12"/>
    </p:embeddedFont>
    <p:embeddedFont>
      <p:font typeface="Heebo SemiBold"/>
      <p:regular r:id="rId13"/>
    </p:embeddedFont>
    <p:embeddedFont>
      <p:font typeface="Heebo Bold"/>
      <p:regular r:id="rId14"/>
    </p:embeddedFont>
    <p:embeddedFont>
      <p:font typeface="Yrsa"/>
      <p:regular r:id="rId15"/>
      <p: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notesMaster" Target="notesMasters/notesMaster1.xml" /><Relationship Id="rId6" Type="http://schemas.openxmlformats.org/officeDocument/2006/relationships/presProps" Target="presProps.xml" /><Relationship Id="rId7" Type="http://schemas.openxmlformats.org/officeDocument/2006/relationships/viewProps" Target="viewProps.xml" /><Relationship Id="rId8" Type="http://schemas.openxmlformats.org/officeDocument/2006/relationships/theme" Target="theme/theme1.xml" /><Relationship Id="rId9" Type="http://schemas.openxmlformats.org/officeDocument/2006/relationships/tableStyles" Target="tableStyles.xml" /><Relationship Id="rId10" Type="http://schemas.openxmlformats.org/officeDocument/2006/relationships/font" Target="fonts/font1.fntdata" /><Relationship Id="rId11" Type="http://schemas.openxmlformats.org/officeDocument/2006/relationships/font" Target="fonts/font2.fntdata" /><Relationship Id="rId12" Type="http://schemas.openxmlformats.org/officeDocument/2006/relationships/font" Target="fonts/font3.fntdata" /><Relationship Id="rId13" Type="http://schemas.openxmlformats.org/officeDocument/2006/relationships/font" Target="fonts/font4.fntdata" /><Relationship Id="rId14" Type="http://schemas.openxmlformats.org/officeDocument/2006/relationships/font" Target="fonts/font5.fntdata" /><Relationship Id="rId15" Type="http://schemas.openxmlformats.org/officeDocument/2006/relationships/font" Target="fonts/font6.fntdata" /><Relationship Id="rId16" Type="http://schemas.openxmlformats.org/officeDocument/2006/relationships/font" Target="fonts/font7.fntdata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linkedin.com/company/globalcitizensolutions/" TargetMode="External"/><Relationship Id="rId7" Type="http://schemas.openxmlformats.org/officeDocument/2006/relationships/hyperlink" Target="https://www.facebook.com/globalcitizensolutions/" TargetMode="External"/><Relationship Id="rId9" Type="http://schemas.openxmlformats.org/officeDocument/2006/relationships/hyperlink" Target="https://www.instagram.com/globalcitizensolutions/" TargetMode="External"/><Relationship Id="rId11" Type="http://schemas.openxmlformats.org/officeDocument/2006/relationships/hyperlink" Target="https://beglobal.link/GCS-youtube" TargetMode="Externa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image" Target="../media/image-3-5.png"/><Relationship Id="rId8" Type="http://schemas.openxmlformats.org/officeDocument/2006/relationships/image" Target="../media/image-3-6.png"/><Relationship Id="rId10" Type="http://schemas.openxmlformats.org/officeDocument/2006/relationships/image" Target="../media/image-3-7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GCS - DISK 1T/GCS 2026/Github/gcs-design-ops/skills/design-brochure-builder/assets/covers/background-cover-g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7563092" cy="10696917"/>
          </a:xfrm>
          <a:prstGeom prst="rect">
            <a:avLst/>
          </a:prstGeom>
        </p:spPr>
      </p:pic>
      <p:pic>
        <p:nvPicPr>
          <p:cNvPr id="3" name="Image 1" descr="/Volumes/GCS - DISK 1T/GCS 2026/Github/gcs-design-ops/skills/design-brochure-builder/assets/logos/GCS-Symbo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18" y="495316"/>
            <a:ext cx="400063" cy="4000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18" y="9294792"/>
            <a:ext cx="4667399" cy="7544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FFFFFF">
                    <a:alpha val="58000"/>
                  </a:srgb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One of Europe's most accessible and fastest-processing investor visa programmes — offering a direct pathway to EU residency and, after 10 years, Italian citizenship.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71518" y="1009682"/>
            <a:ext cx="6420055" cy="81327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5439"/>
              </a:lnSpc>
              <a:spcAft>
                <a:spcPts val="1500"/>
              </a:spcAft>
              <a:buNone/>
            </a:pPr>
            <a:r>
              <a:rPr lang="en-US" sz="5550" spc="-150" kern="0" dirty="0">
                <a:solidFill>
                  <a:srgbClr val="FFFFFF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Italy </a:t>
            </a:r>
            <a:r>
              <a:rPr lang="en-US" sz="5550" i="1" spc="-150" kern="0" dirty="0">
                <a:solidFill>
                  <a:srgbClr val="B3B5CD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Investor Visa</a:t>
            </a:r>
            <a:endParaRPr lang="en-US" sz="5550" dirty="0"/>
          </a:p>
          <a:p>
            <a:pPr indent="0" marL="0">
              <a:lnSpc>
                <a:spcPts val="2730"/>
              </a:lnSpc>
              <a:buNone/>
            </a:pPr>
            <a:r>
              <a:rPr lang="en-US" sz="2100" spc="-12" kern="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Golden Visa Programme</a:t>
            </a:r>
            <a:endParaRPr lang="en-US" sz="5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17" y="152405"/>
            <a:ext cx="4572146" cy="14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8"/>
              </a:lnSpc>
              <a:buNone/>
            </a:pPr>
            <a:r>
              <a:rPr lang="en-US" sz="750" spc="150" kern="0" dirty="0">
                <a:solidFill>
                  <a:srgbClr val="9B9CA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ITALY INVESTOR VISA</a:t>
            </a:r>
            <a:endParaRPr lang="en-US" sz="750" dirty="0"/>
          </a:p>
        </p:txBody>
      </p:sp>
      <p:pic>
        <p:nvPicPr>
          <p:cNvPr id="3" name="Image 0" descr="/Volumes/GCS - DISK 1T/GCS 2026/Github/gcs-design-ops/skills/design-brochure-builder/assets/logos/GCS-Secondary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5120" y="188919"/>
            <a:ext cx="1714555" cy="10795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417" y="490553"/>
            <a:ext cx="6496258" cy="0"/>
          </a:xfrm>
          <a:prstGeom prst="line">
            <a:avLst/>
          </a:prstGeom>
          <a:noFill/>
          <a:ln w="9525">
            <a:solidFill>
              <a:srgbClr val="E0E2EA"/>
            </a:solidFill>
            <a:prstDash val="solid"/>
          </a:ln>
        </p:spPr>
      </p:sp>
      <p:pic>
        <p:nvPicPr>
          <p:cNvPr id="5" name="Image 1" descr="/Volumes/GCS - DISK 1T/GCS 2026/Github/gcs-design-ops/skills/design-brochure-builder/assets/flags/_generated/it-sq-1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17" y="762024"/>
            <a:ext cx="419113" cy="419113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3417" y="762024"/>
            <a:ext cx="419113" cy="419113"/>
          </a:xfrm>
          <a:prstGeom prst="ellipse">
            <a:avLst/>
          </a:prstGeom>
          <a:ln w="9525">
            <a:solidFill>
              <a:srgbClr val="E0E2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04935" y="733448"/>
            <a:ext cx="5924740" cy="71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spcAft>
                <a:spcPts val="600"/>
              </a:spcAft>
              <a:buNone/>
            </a:pPr>
            <a:r>
              <a:rPr lang="en-US" sz="3450" spc="-75" kern="0" dirty="0">
                <a:solidFill>
                  <a:srgbClr val="000957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Italy </a:t>
            </a:r>
            <a:r>
              <a:rPr lang="en-US" sz="3450" i="1" spc="-75" kern="0" dirty="0">
                <a:solidFill>
                  <a:srgbClr val="B3B5CD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Investor Visa</a:t>
            </a:r>
            <a:endParaRPr lang="en-US" sz="34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Golden Visa Programme</a:t>
            </a:r>
            <a:endParaRPr lang="en-US" sz="3450" dirty="0"/>
          </a:p>
        </p:txBody>
      </p:sp>
      <p:sp>
        <p:nvSpPr>
          <p:cNvPr id="8" name="Shape 4"/>
          <p:cNvSpPr/>
          <p:nvPr/>
        </p:nvSpPr>
        <p:spPr>
          <a:xfrm>
            <a:off x="533417" y="1685979"/>
            <a:ext cx="1581201" cy="735354"/>
          </a:xfrm>
          <a:prstGeom prst="rect">
            <a:avLst/>
          </a:prstGeom>
          <a:solidFill>
            <a:srgbClr val="000957"/>
          </a:solidFill>
          <a:ln/>
        </p:spPr>
      </p:sp>
      <p:sp>
        <p:nvSpPr>
          <p:cNvPr id="9" name="Text 5"/>
          <p:cNvSpPr/>
          <p:nvPr/>
        </p:nvSpPr>
        <p:spPr>
          <a:xfrm>
            <a:off x="685822" y="1819333"/>
            <a:ext cx="1276391" cy="44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0"/>
              </a:lnSpc>
              <a:spcAft>
                <a:spcPts val="600"/>
              </a:spcAft>
              <a:buNone/>
            </a:pPr>
            <a:r>
              <a:rPr lang="en-US" sz="600" spc="132" kern="0" dirty="0">
                <a:solidFill>
                  <a:srgbClr val="3F8C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MIN. INVESTMENT</a:t>
            </a:r>
            <a:endParaRPr lang="en-US" sz="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€250,000</a:t>
            </a:r>
            <a:endParaRPr lang="en-US" sz="600" dirty="0"/>
          </a:p>
        </p:txBody>
      </p:sp>
      <p:sp>
        <p:nvSpPr>
          <p:cNvPr id="10" name="Shape 6"/>
          <p:cNvSpPr/>
          <p:nvPr/>
        </p:nvSpPr>
        <p:spPr>
          <a:xfrm>
            <a:off x="2171769" y="1685979"/>
            <a:ext cx="1581201" cy="735354"/>
          </a:xfrm>
          <a:prstGeom prst="rect">
            <a:avLst/>
          </a:prstGeom>
          <a:solidFill>
            <a:srgbClr val="000957"/>
          </a:solidFill>
          <a:ln/>
        </p:spPr>
      </p:sp>
      <p:sp>
        <p:nvSpPr>
          <p:cNvPr id="11" name="Text 7"/>
          <p:cNvSpPr/>
          <p:nvPr/>
        </p:nvSpPr>
        <p:spPr>
          <a:xfrm>
            <a:off x="2324174" y="1819333"/>
            <a:ext cx="1276391" cy="44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0"/>
              </a:lnSpc>
              <a:spcAft>
                <a:spcPts val="600"/>
              </a:spcAft>
              <a:buNone/>
            </a:pPr>
            <a:r>
              <a:rPr lang="en-US" sz="600" spc="132" kern="0" dirty="0">
                <a:solidFill>
                  <a:srgbClr val="3F8C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PROCESSING TIME</a:t>
            </a:r>
            <a:endParaRPr lang="en-US" sz="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1–2 Months</a:t>
            </a:r>
            <a:endParaRPr lang="en-US" sz="600" dirty="0"/>
          </a:p>
        </p:txBody>
      </p:sp>
      <p:sp>
        <p:nvSpPr>
          <p:cNvPr id="12" name="Shape 8"/>
          <p:cNvSpPr/>
          <p:nvPr/>
        </p:nvSpPr>
        <p:spPr>
          <a:xfrm>
            <a:off x="3810122" y="1685979"/>
            <a:ext cx="1581201" cy="735354"/>
          </a:xfrm>
          <a:prstGeom prst="rect">
            <a:avLst/>
          </a:prstGeom>
          <a:solidFill>
            <a:srgbClr val="000957"/>
          </a:solidFill>
          <a:ln/>
        </p:spPr>
      </p:sp>
      <p:sp>
        <p:nvSpPr>
          <p:cNvPr id="13" name="Text 9"/>
          <p:cNvSpPr/>
          <p:nvPr/>
        </p:nvSpPr>
        <p:spPr>
          <a:xfrm>
            <a:off x="3962527" y="1819333"/>
            <a:ext cx="1276391" cy="44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0"/>
              </a:lnSpc>
              <a:spcAft>
                <a:spcPts val="600"/>
              </a:spcAft>
              <a:buNone/>
            </a:pPr>
            <a:r>
              <a:rPr lang="en-US" sz="600" spc="132" kern="0" dirty="0">
                <a:solidFill>
                  <a:srgbClr val="3F8C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PATH TO CITIZENSHIP</a:t>
            </a:r>
            <a:endParaRPr lang="en-US" sz="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10 Years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5448474" y="1685979"/>
            <a:ext cx="1581201" cy="735354"/>
          </a:xfrm>
          <a:prstGeom prst="rect">
            <a:avLst/>
          </a:prstGeom>
          <a:solidFill>
            <a:srgbClr val="000957"/>
          </a:solidFill>
          <a:ln/>
        </p:spPr>
      </p:sp>
      <p:sp>
        <p:nvSpPr>
          <p:cNvPr id="15" name="Text 11"/>
          <p:cNvSpPr/>
          <p:nvPr/>
        </p:nvSpPr>
        <p:spPr>
          <a:xfrm>
            <a:off x="5600879" y="1819333"/>
            <a:ext cx="1276391" cy="44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0"/>
              </a:lnSpc>
              <a:spcAft>
                <a:spcPts val="600"/>
              </a:spcAft>
              <a:buNone/>
            </a:pPr>
            <a:r>
              <a:rPr lang="en-US" sz="600" spc="132" kern="0" dirty="0">
                <a:solidFill>
                  <a:srgbClr val="3F8C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VISA-FREE ACCESS</a:t>
            </a:r>
            <a:endParaRPr lang="en-US" sz="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Schengen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533417" y="2583263"/>
            <a:ext cx="2522301" cy="29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10"/>
              </a:lnSpc>
              <a:buNone/>
            </a:pPr>
            <a:r>
              <a:rPr lang="en-US" sz="2100" spc="-22" kern="0" dirty="0">
                <a:solidFill>
                  <a:srgbClr val="000957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Overview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533417" y="3019522"/>
            <a:ext cx="2522301" cy="3478641"/>
          </a:xfrm>
          <a:prstGeom prst="rect">
            <a:avLst/>
          </a:prstGeom>
          <a:solidFill>
            <a:srgbClr val="F7F8FD"/>
          </a:solidFill>
          <a:ln w="9525">
            <a:solidFill>
              <a:srgbClr val="E8EAF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4398" y="3181452"/>
            <a:ext cx="2160339" cy="311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825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Italy offers one of Europe's most attractive Golden Visa programmes, granting permanent residency in as little as 1–2 months for one of the lowest minimum investments in the EU.</a:t>
            </a:r>
            <a:endParaRPr lang="en-US" sz="825" dirty="0"/>
          </a:p>
          <a:p>
            <a:pPr indent="0" marL="0">
              <a:lnSpc>
                <a:spcPts val="1320"/>
              </a:lnSpc>
              <a:buNone/>
            </a:pPr>
            <a:r>
              <a:rPr lang="en-US" sz="825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endParaRPr lang="en-US" sz="825" dirty="0"/>
          </a:p>
          <a:p>
            <a:pPr indent="0" marL="0">
              <a:lnSpc>
                <a:spcPts val="1320"/>
              </a:lnSpc>
              <a:buNone/>
            </a:pPr>
            <a:r>
              <a:rPr lang="en-US" sz="825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Applicants receive pre-approval (Nulla Osta) before completing their investment, ensuring no funds are committed prior to confirmation. Investment options range from innovative startups to government bonds.</a:t>
            </a:r>
            <a:endParaRPr lang="en-US" sz="825" dirty="0"/>
          </a:p>
          <a:p>
            <a:pPr indent="0" marL="0">
              <a:lnSpc>
                <a:spcPts val="1320"/>
              </a:lnSpc>
              <a:buNone/>
            </a:pPr>
            <a:r>
              <a:rPr lang="en-US" sz="825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endParaRPr lang="en-US" sz="825" dirty="0"/>
          </a:p>
          <a:p>
            <a:pPr indent="0" marL="0">
              <a:lnSpc>
                <a:spcPts val="1320"/>
              </a:lnSpc>
              <a:buNone/>
            </a:pPr>
            <a:r>
              <a:rPr lang="en-US" sz="825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As the EU's 3rd largest economy, Italy provides stability, a Mediterranean lifestyle, and after 10 years of residence, eligibility to apply for citizenship and an EU passport.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3246224" y="2583263"/>
            <a:ext cx="3783451" cy="29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10"/>
              </a:lnSpc>
              <a:buNone/>
            </a:pPr>
            <a:r>
              <a:rPr lang="en-US" sz="2100" spc="-22" kern="0" dirty="0">
                <a:solidFill>
                  <a:srgbClr val="000957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Key Benefits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3246224" y="3019522"/>
            <a:ext cx="1853624" cy="1108745"/>
          </a:xfrm>
          <a:prstGeom prst="rect">
            <a:avLst/>
          </a:prstGeom>
          <a:solidFill>
            <a:srgbClr val="F7F8FD"/>
          </a:solidFill>
          <a:ln w="9525">
            <a:solidFill>
              <a:srgbClr val="E8EAF5"/>
            </a:solidFill>
            <a:prstDash val="solid"/>
          </a:ln>
        </p:spPr>
      </p:sp>
      <p:pic>
        <p:nvPicPr>
          <p:cNvPr id="21" name="Image 2" descr="/Volumes/GCS - DISK 1T/GCS 2026/Github/gcs-design-ops/skills/design-brochure-builder/assets/icons/_generated/travel_explore-outlined-outline-3F8CFF-9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154" y="3162401"/>
            <a:ext cx="228607" cy="22860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08154" y="3467211"/>
            <a:ext cx="1529764" cy="49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8"/>
              </a:lnSpc>
              <a:spcAft>
                <a:spcPts val="300"/>
              </a:spcAft>
              <a:buNone/>
            </a:pPr>
            <a:r>
              <a:rPr lang="en-US" sz="97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Visa-Free Travel</a:t>
            </a:r>
            <a:endParaRPr lang="en-US" sz="975" dirty="0"/>
          </a:p>
          <a:p>
            <a:pPr indent="0" marL="0">
              <a:lnSpc>
                <a:spcPts val="1181"/>
              </a:lnSpc>
              <a:buNone/>
            </a:pPr>
            <a:r>
              <a:rPr lang="en-US" sz="788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Travel across the Schengen Area without a visa.</a:t>
            </a:r>
            <a:endParaRPr lang="en-US" sz="975" dirty="0"/>
          </a:p>
        </p:txBody>
      </p:sp>
      <p:sp>
        <p:nvSpPr>
          <p:cNvPr id="23" name="Shape 18"/>
          <p:cNvSpPr/>
          <p:nvPr/>
        </p:nvSpPr>
        <p:spPr>
          <a:xfrm>
            <a:off x="5176051" y="3019522"/>
            <a:ext cx="1853624" cy="1108745"/>
          </a:xfrm>
          <a:prstGeom prst="rect">
            <a:avLst/>
          </a:prstGeom>
          <a:solidFill>
            <a:srgbClr val="F7F8FD"/>
          </a:solidFill>
          <a:ln w="9525">
            <a:solidFill>
              <a:srgbClr val="E8EAF5"/>
            </a:solidFill>
            <a:prstDash val="solid"/>
          </a:ln>
        </p:spPr>
      </p:sp>
      <p:pic>
        <p:nvPicPr>
          <p:cNvPr id="24" name="Image 3" descr="/Volumes/GCS - DISK 1T/GCS 2026/Github/gcs-design-ops/skills/design-brochure-builder/assets/icons/_generated/badge-outlined-outline-3F8CFF-9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981" y="3162401"/>
            <a:ext cx="228607" cy="22860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37981" y="3467211"/>
            <a:ext cx="1529764" cy="49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8"/>
              </a:lnSpc>
              <a:spcAft>
                <a:spcPts val="300"/>
              </a:spcAft>
              <a:buNone/>
            </a:pPr>
            <a:r>
              <a:rPr lang="en-US" sz="97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Dual Citizenship</a:t>
            </a:r>
            <a:endParaRPr lang="en-US" sz="975" dirty="0"/>
          </a:p>
          <a:p>
            <a:pPr indent="0" marL="0">
              <a:lnSpc>
                <a:spcPts val="1181"/>
              </a:lnSpc>
              <a:buNone/>
            </a:pPr>
            <a:r>
              <a:rPr lang="en-US" sz="788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Keep your original nationality alongside the new one.</a:t>
            </a:r>
            <a:endParaRPr lang="en-US" sz="975" dirty="0"/>
          </a:p>
        </p:txBody>
      </p:sp>
      <p:sp>
        <p:nvSpPr>
          <p:cNvPr id="26" name="Shape 20"/>
          <p:cNvSpPr/>
          <p:nvPr/>
        </p:nvSpPr>
        <p:spPr>
          <a:xfrm>
            <a:off x="3246224" y="4204470"/>
            <a:ext cx="1853624" cy="1108745"/>
          </a:xfrm>
          <a:prstGeom prst="rect">
            <a:avLst/>
          </a:prstGeom>
          <a:solidFill>
            <a:srgbClr val="F7F8FD"/>
          </a:solidFill>
          <a:ln w="9525">
            <a:solidFill>
              <a:srgbClr val="E8EAF5"/>
            </a:solidFill>
            <a:prstDash val="solid"/>
          </a:ln>
        </p:spPr>
      </p:sp>
      <p:pic>
        <p:nvPicPr>
          <p:cNvPr id="27" name="Image 4" descr="/Volumes/GCS - DISK 1T/GCS 2026/Github/gcs-design-ops/skills/design-brochure-builder/assets/icons/_generated/family_restroom-outlined-outline-3F8CFF-9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8154" y="4347349"/>
            <a:ext cx="228607" cy="22860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08154" y="4652159"/>
            <a:ext cx="1529764" cy="49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8"/>
              </a:lnSpc>
              <a:spcAft>
                <a:spcPts val="300"/>
              </a:spcAft>
              <a:buNone/>
            </a:pPr>
            <a:r>
              <a:rPr lang="en-US" sz="97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Full Family Inclusion</a:t>
            </a:r>
            <a:endParaRPr lang="en-US" sz="975" dirty="0"/>
          </a:p>
          <a:p>
            <a:pPr indent="0" marL="0">
              <a:lnSpc>
                <a:spcPts val="1181"/>
              </a:lnSpc>
              <a:buNone/>
            </a:pPr>
            <a:r>
              <a:rPr lang="en-US" sz="788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Spouse and dependent children up to age 18 included.</a:t>
            </a:r>
            <a:endParaRPr lang="en-US" sz="975" dirty="0"/>
          </a:p>
        </p:txBody>
      </p:sp>
      <p:sp>
        <p:nvSpPr>
          <p:cNvPr id="29" name="Shape 22"/>
          <p:cNvSpPr/>
          <p:nvPr/>
        </p:nvSpPr>
        <p:spPr>
          <a:xfrm>
            <a:off x="5176051" y="4204470"/>
            <a:ext cx="1853624" cy="1108745"/>
          </a:xfrm>
          <a:prstGeom prst="rect">
            <a:avLst/>
          </a:prstGeom>
          <a:solidFill>
            <a:srgbClr val="F7F8FD"/>
          </a:solidFill>
          <a:ln w="9525">
            <a:solidFill>
              <a:srgbClr val="E8EAF5"/>
            </a:solidFill>
            <a:prstDash val="solid"/>
          </a:ln>
        </p:spPr>
      </p:sp>
      <p:pic>
        <p:nvPicPr>
          <p:cNvPr id="30" name="Image 5" descr="/Volumes/GCS - DISK 1T/GCS 2026/Github/gcs-design-ops/skills/design-brochure-builder/assets/icons/_generated/work-outlined-outline-3F8CFF-9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7981" y="4347349"/>
            <a:ext cx="228607" cy="22860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37981" y="4652159"/>
            <a:ext cx="1529764" cy="49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8"/>
              </a:lnSpc>
              <a:spcAft>
                <a:spcPts val="300"/>
              </a:spcAft>
              <a:buNone/>
            </a:pPr>
            <a:r>
              <a:rPr lang="en-US" sz="97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Right to Live &amp; Work</a:t>
            </a:r>
            <a:endParaRPr lang="en-US" sz="975" dirty="0"/>
          </a:p>
          <a:p>
            <a:pPr indent="0" marL="0">
              <a:lnSpc>
                <a:spcPts val="1181"/>
              </a:lnSpc>
              <a:buNone/>
            </a:pPr>
            <a:r>
              <a:rPr lang="en-US" sz="788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Live, work and study in the country from day one.</a:t>
            </a:r>
            <a:endParaRPr lang="en-US" sz="975" dirty="0"/>
          </a:p>
        </p:txBody>
      </p:sp>
      <p:sp>
        <p:nvSpPr>
          <p:cNvPr id="32" name="Shape 24"/>
          <p:cNvSpPr/>
          <p:nvPr/>
        </p:nvSpPr>
        <p:spPr>
          <a:xfrm>
            <a:off x="3246224" y="5389417"/>
            <a:ext cx="1853624" cy="1108745"/>
          </a:xfrm>
          <a:prstGeom prst="rect">
            <a:avLst/>
          </a:prstGeom>
          <a:solidFill>
            <a:srgbClr val="F7F8FD"/>
          </a:solidFill>
          <a:ln w="9525">
            <a:solidFill>
              <a:srgbClr val="E8EAF5"/>
            </a:solidFill>
            <a:prstDash val="solid"/>
          </a:ln>
        </p:spPr>
      </p:sp>
      <p:pic>
        <p:nvPicPr>
          <p:cNvPr id="33" name="Image 6" descr="/Volumes/GCS - DISK 1T/GCS 2026/Github/gcs-design-ops/skills/design-brochure-builder/assets/icons/_generated/savings-outlined-outline-3F8CFF-9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8154" y="5532297"/>
            <a:ext cx="228607" cy="22860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408154" y="5837107"/>
            <a:ext cx="1529764" cy="49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8"/>
              </a:lnSpc>
              <a:spcAft>
                <a:spcPts val="300"/>
              </a:spcAft>
              <a:buNone/>
            </a:pPr>
            <a:r>
              <a:rPr lang="en-US" sz="97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Tax Incentives</a:t>
            </a:r>
            <a:endParaRPr lang="en-US" sz="975" dirty="0"/>
          </a:p>
          <a:p>
            <a:pPr indent="0" marL="0">
              <a:lnSpc>
                <a:spcPts val="1181"/>
              </a:lnSpc>
              <a:buNone/>
            </a:pPr>
            <a:r>
              <a:rPr lang="en-US" sz="788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Attractive regimes for new residents on foreign income.</a:t>
            </a:r>
            <a:endParaRPr lang="en-US" sz="975" dirty="0"/>
          </a:p>
        </p:txBody>
      </p:sp>
      <p:sp>
        <p:nvSpPr>
          <p:cNvPr id="35" name="Shape 26"/>
          <p:cNvSpPr/>
          <p:nvPr/>
        </p:nvSpPr>
        <p:spPr>
          <a:xfrm>
            <a:off x="5176051" y="5389417"/>
            <a:ext cx="1853624" cy="1108745"/>
          </a:xfrm>
          <a:prstGeom prst="rect">
            <a:avLst/>
          </a:prstGeom>
          <a:solidFill>
            <a:srgbClr val="F7F8FD"/>
          </a:solidFill>
          <a:ln w="9525">
            <a:solidFill>
              <a:srgbClr val="E8EAF5"/>
            </a:solidFill>
            <a:prstDash val="solid"/>
          </a:ln>
        </p:spPr>
      </p:sp>
      <p:pic>
        <p:nvPicPr>
          <p:cNvPr id="36" name="Image 7" descr="/Volumes/GCS - DISK 1T/GCS 2026/Github/gcs-design-ops/skills/design-brochure-builder/assets/icons/_generated/public-outlined-outline-3F8CFF-9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7981" y="5532297"/>
            <a:ext cx="228607" cy="228607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337981" y="5837107"/>
            <a:ext cx="1529764" cy="49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8"/>
              </a:lnSpc>
              <a:spcAft>
                <a:spcPts val="300"/>
              </a:spcAft>
              <a:buNone/>
            </a:pPr>
            <a:r>
              <a:rPr lang="en-US" sz="97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Path to EU Citizenship</a:t>
            </a:r>
            <a:endParaRPr lang="en-US" sz="975" dirty="0"/>
          </a:p>
          <a:p>
            <a:pPr indent="0" marL="0">
              <a:lnSpc>
                <a:spcPts val="1181"/>
              </a:lnSpc>
              <a:buNone/>
            </a:pPr>
            <a:r>
              <a:rPr lang="en-US" sz="788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Eligible to apply for citizenship after the qualifying period.</a:t>
            </a:r>
            <a:endParaRPr lang="en-US" sz="975" dirty="0"/>
          </a:p>
        </p:txBody>
      </p:sp>
      <p:sp>
        <p:nvSpPr>
          <p:cNvPr id="38" name="Text 28"/>
          <p:cNvSpPr/>
          <p:nvPr/>
        </p:nvSpPr>
        <p:spPr>
          <a:xfrm>
            <a:off x="533417" y="6641043"/>
            <a:ext cx="6496258" cy="29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10"/>
              </a:lnSpc>
              <a:buNone/>
            </a:pPr>
            <a:r>
              <a:rPr lang="en-US" sz="2100" spc="-22" kern="0" dirty="0">
                <a:solidFill>
                  <a:srgbClr val="000957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Investment Options</a:t>
            </a:r>
            <a:endParaRPr lang="en-US" sz="2100" dirty="0"/>
          </a:p>
        </p:txBody>
      </p:sp>
      <p:sp>
        <p:nvSpPr>
          <p:cNvPr id="39" name="Shape 29"/>
          <p:cNvSpPr/>
          <p:nvPr/>
        </p:nvSpPr>
        <p:spPr>
          <a:xfrm>
            <a:off x="533417" y="7077301"/>
            <a:ext cx="1581201" cy="1308777"/>
          </a:xfrm>
          <a:prstGeom prst="rect">
            <a:avLst/>
          </a:prstGeom>
          <a:solidFill>
            <a:srgbClr val="F7F8FD"/>
          </a:solidFill>
          <a:ln w="9525">
            <a:solidFill>
              <a:srgbClr val="E8EAF5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676297" y="7172555"/>
            <a:ext cx="1295441" cy="1061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3F8CFF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01</a:t>
            </a:r>
            <a:endParaRPr lang="en-US" sz="1500" dirty="0"/>
          </a:p>
          <a:p>
            <a:pPr indent="0" marL="0">
              <a:lnSpc>
                <a:spcPts val="1170"/>
              </a:lnSpc>
              <a:spcAft>
                <a:spcPts val="150"/>
              </a:spcAft>
              <a:buNone/>
            </a:pPr>
            <a:r>
              <a:rPr lang="en-US" sz="900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Innovative Startup</a:t>
            </a:r>
            <a:endParaRPr lang="en-US" sz="1500" dirty="0"/>
          </a:p>
          <a:p>
            <a:pPr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spc="-12" kern="0" dirty="0">
                <a:solidFill>
                  <a:srgbClr val="000957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From €250k+</a:t>
            </a:r>
            <a:endParaRPr lang="en-US" sz="1500" dirty="0"/>
          </a:p>
          <a:p>
            <a:pPr indent="0" marL="0">
              <a:lnSpc>
                <a:spcPts val="1088"/>
              </a:lnSpc>
              <a:buNone/>
            </a:pPr>
            <a:r>
              <a:rPr lang="en-US" sz="750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Invest in a qualifying innovative company to support local growth.</a:t>
            </a:r>
            <a:endParaRPr lang="en-US" sz="1500" dirty="0"/>
          </a:p>
        </p:txBody>
      </p:sp>
      <p:sp>
        <p:nvSpPr>
          <p:cNvPr id="41" name="Shape 31"/>
          <p:cNvSpPr/>
          <p:nvPr/>
        </p:nvSpPr>
        <p:spPr>
          <a:xfrm>
            <a:off x="2171769" y="7077301"/>
            <a:ext cx="1581201" cy="1308777"/>
          </a:xfrm>
          <a:prstGeom prst="rect">
            <a:avLst/>
          </a:prstGeom>
          <a:solidFill>
            <a:srgbClr val="F7F8FD"/>
          </a:solidFill>
          <a:ln w="9525">
            <a:solidFill>
              <a:srgbClr val="E8EAF5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2314649" y="7172555"/>
            <a:ext cx="1295441" cy="1061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3F8CFF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02</a:t>
            </a:r>
            <a:endParaRPr lang="en-US" sz="1500" dirty="0"/>
          </a:p>
          <a:p>
            <a:pPr indent="0" marL="0">
              <a:lnSpc>
                <a:spcPts val="1170"/>
              </a:lnSpc>
              <a:spcAft>
                <a:spcPts val="150"/>
              </a:spcAft>
              <a:buNone/>
            </a:pPr>
            <a:r>
              <a:rPr lang="en-US" sz="900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Listed or Unlisted Company</a:t>
            </a:r>
            <a:endParaRPr lang="en-US" sz="1500" dirty="0"/>
          </a:p>
          <a:p>
            <a:pPr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spc="-12" kern="0" dirty="0">
                <a:solidFill>
                  <a:srgbClr val="000957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From €500k+</a:t>
            </a:r>
            <a:endParaRPr lang="en-US" sz="1500" dirty="0"/>
          </a:p>
          <a:p>
            <a:pPr indent="0" marL="0">
              <a:lnSpc>
                <a:spcPts val="1088"/>
              </a:lnSpc>
              <a:buNone/>
            </a:pPr>
            <a:r>
              <a:rPr lang="en-US" sz="750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Support local business growth and job creation.</a:t>
            </a:r>
            <a:endParaRPr lang="en-US" sz="1500" dirty="0"/>
          </a:p>
        </p:txBody>
      </p:sp>
      <p:sp>
        <p:nvSpPr>
          <p:cNvPr id="43" name="Shape 33"/>
          <p:cNvSpPr/>
          <p:nvPr/>
        </p:nvSpPr>
        <p:spPr>
          <a:xfrm>
            <a:off x="3810122" y="7077301"/>
            <a:ext cx="1581201" cy="1308777"/>
          </a:xfrm>
          <a:prstGeom prst="rect">
            <a:avLst/>
          </a:prstGeom>
          <a:solidFill>
            <a:srgbClr val="F7F8FD"/>
          </a:solidFill>
          <a:ln w="9525">
            <a:solidFill>
              <a:srgbClr val="E8EAF5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3953001" y="7172555"/>
            <a:ext cx="1295441" cy="1061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3F8CFF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03</a:t>
            </a:r>
            <a:endParaRPr lang="en-US" sz="1500" dirty="0"/>
          </a:p>
          <a:p>
            <a:pPr indent="0" marL="0">
              <a:lnSpc>
                <a:spcPts val="1170"/>
              </a:lnSpc>
              <a:spcAft>
                <a:spcPts val="150"/>
              </a:spcAft>
              <a:buNone/>
            </a:pPr>
            <a:r>
              <a:rPr lang="en-US" sz="900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Philanthropic Donation</a:t>
            </a:r>
            <a:endParaRPr lang="en-US" sz="1500" dirty="0"/>
          </a:p>
          <a:p>
            <a:pPr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spc="-12" kern="0" dirty="0">
                <a:solidFill>
                  <a:srgbClr val="000957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From €1M+</a:t>
            </a:r>
            <a:endParaRPr lang="en-US" sz="1500" dirty="0"/>
          </a:p>
          <a:p>
            <a:pPr indent="0" marL="0">
              <a:lnSpc>
                <a:spcPts val="1088"/>
              </a:lnSpc>
              <a:buNone/>
            </a:pPr>
            <a:r>
              <a:rPr lang="en-US" sz="750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Non-refundable contribution to a government-recognised initiative.</a:t>
            </a:r>
            <a:endParaRPr lang="en-US" sz="1500" dirty="0"/>
          </a:p>
        </p:txBody>
      </p:sp>
      <p:sp>
        <p:nvSpPr>
          <p:cNvPr id="45" name="Shape 35"/>
          <p:cNvSpPr/>
          <p:nvPr/>
        </p:nvSpPr>
        <p:spPr>
          <a:xfrm>
            <a:off x="5448474" y="7077301"/>
            <a:ext cx="1581201" cy="1308777"/>
          </a:xfrm>
          <a:prstGeom prst="rect">
            <a:avLst/>
          </a:prstGeom>
          <a:solidFill>
            <a:srgbClr val="F7F8FD"/>
          </a:solidFill>
          <a:ln w="9525">
            <a:solidFill>
              <a:srgbClr val="E8EAF5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5591354" y="7172555"/>
            <a:ext cx="1295441" cy="1061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3F8CFF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04</a:t>
            </a:r>
            <a:endParaRPr lang="en-US" sz="1500" dirty="0"/>
          </a:p>
          <a:p>
            <a:pPr indent="0" marL="0">
              <a:lnSpc>
                <a:spcPts val="1170"/>
              </a:lnSpc>
              <a:spcAft>
                <a:spcPts val="150"/>
              </a:spcAft>
              <a:buNone/>
            </a:pPr>
            <a:r>
              <a:rPr lang="en-US" sz="900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Government Bonds</a:t>
            </a:r>
            <a:endParaRPr lang="en-US" sz="1500" dirty="0"/>
          </a:p>
          <a:p>
            <a:pPr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spc="-12" kern="0" dirty="0">
                <a:solidFill>
                  <a:srgbClr val="000957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From €2M+</a:t>
            </a:r>
            <a:endParaRPr lang="en-US" sz="1500" dirty="0"/>
          </a:p>
          <a:p>
            <a:pPr indent="0" marL="0">
              <a:lnSpc>
                <a:spcPts val="1088"/>
              </a:lnSpc>
              <a:buNone/>
            </a:pPr>
            <a:r>
              <a:rPr lang="en-US" sz="750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Stable, low-risk investment backed by the state.</a:t>
            </a:r>
            <a:endParaRPr lang="en-US" sz="1500" dirty="0"/>
          </a:p>
        </p:txBody>
      </p:sp>
      <p:sp>
        <p:nvSpPr>
          <p:cNvPr id="47" name="Text 37"/>
          <p:cNvSpPr/>
          <p:nvPr/>
        </p:nvSpPr>
        <p:spPr>
          <a:xfrm>
            <a:off x="533417" y="8528958"/>
            <a:ext cx="6496258" cy="29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10"/>
              </a:lnSpc>
              <a:buNone/>
            </a:pPr>
            <a:r>
              <a:rPr lang="en-US" sz="2100" spc="-22" kern="0" dirty="0">
                <a:solidFill>
                  <a:srgbClr val="000957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Application Procedure</a:t>
            </a:r>
            <a:endParaRPr lang="en-US" sz="2100" dirty="0"/>
          </a:p>
        </p:txBody>
      </p:sp>
      <p:sp>
        <p:nvSpPr>
          <p:cNvPr id="48" name="Shape 38"/>
          <p:cNvSpPr/>
          <p:nvPr/>
        </p:nvSpPr>
        <p:spPr>
          <a:xfrm>
            <a:off x="533417" y="8965217"/>
            <a:ext cx="1003332" cy="19051"/>
          </a:xfrm>
          <a:prstGeom prst="rect">
            <a:avLst/>
          </a:prstGeom>
          <a:solidFill>
            <a:srgbClr val="000957"/>
          </a:solidFill>
          <a:ln/>
        </p:spPr>
      </p:sp>
      <p:sp>
        <p:nvSpPr>
          <p:cNvPr id="49" name="Text 39"/>
          <p:cNvSpPr/>
          <p:nvPr/>
        </p:nvSpPr>
        <p:spPr>
          <a:xfrm>
            <a:off x="533417" y="9041419"/>
            <a:ext cx="1003332" cy="69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spc="108" kern="0" dirty="0">
                <a:solidFill>
                  <a:srgbClr val="3F8C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</a:t>
            </a:r>
            <a:endParaRPr lang="en-US" sz="675" dirty="0"/>
          </a:p>
          <a:p>
            <a:pPr indent="0" marL="0">
              <a:lnSpc>
                <a:spcPts val="1073"/>
              </a:lnSpc>
              <a:spcAft>
                <a:spcPts val="225"/>
              </a:spcAft>
              <a:buNone/>
            </a:pPr>
            <a:r>
              <a:rPr lang="en-US" sz="82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Intro Call</a:t>
            </a:r>
            <a:endParaRPr lang="en-US" sz="675" dirty="0"/>
          </a:p>
          <a:p>
            <a:pPr indent="0" marL="0">
              <a:lnSpc>
                <a:spcPts val="998"/>
              </a:lnSpc>
              <a:buNone/>
            </a:pPr>
            <a:r>
              <a:rPr lang="en-US" sz="713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Discuss goals and eligibility (1 day)</a:t>
            </a:r>
            <a:endParaRPr lang="en-US" sz="675" dirty="0"/>
          </a:p>
        </p:txBody>
      </p:sp>
      <p:sp>
        <p:nvSpPr>
          <p:cNvPr id="50" name="Shape 40"/>
          <p:cNvSpPr/>
          <p:nvPr/>
        </p:nvSpPr>
        <p:spPr>
          <a:xfrm>
            <a:off x="1632002" y="8965217"/>
            <a:ext cx="1003332" cy="19051"/>
          </a:xfrm>
          <a:prstGeom prst="rect">
            <a:avLst/>
          </a:prstGeom>
          <a:solidFill>
            <a:srgbClr val="000957"/>
          </a:solidFill>
          <a:ln/>
        </p:spPr>
      </p:sp>
      <p:sp>
        <p:nvSpPr>
          <p:cNvPr id="51" name="Text 41"/>
          <p:cNvSpPr/>
          <p:nvPr/>
        </p:nvSpPr>
        <p:spPr>
          <a:xfrm>
            <a:off x="1632002" y="9041419"/>
            <a:ext cx="1003332" cy="69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spc="108" kern="0" dirty="0">
                <a:solidFill>
                  <a:srgbClr val="3F8C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</a:t>
            </a:r>
            <a:endParaRPr lang="en-US" sz="675" dirty="0"/>
          </a:p>
          <a:p>
            <a:pPr indent="0" marL="0">
              <a:lnSpc>
                <a:spcPts val="1073"/>
              </a:lnSpc>
              <a:spcAft>
                <a:spcPts val="225"/>
              </a:spcAft>
              <a:buNone/>
            </a:pPr>
            <a:r>
              <a:rPr lang="en-US" sz="82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Documents</a:t>
            </a:r>
            <a:endParaRPr lang="en-US" sz="675" dirty="0"/>
          </a:p>
          <a:p>
            <a:pPr indent="0" marL="0">
              <a:lnSpc>
                <a:spcPts val="998"/>
              </a:lnSpc>
              <a:buNone/>
            </a:pPr>
            <a:r>
              <a:rPr lang="en-US" sz="713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Collect and legalise the application file (2–4 weeks)</a:t>
            </a:r>
            <a:endParaRPr lang="en-US" sz="675" dirty="0"/>
          </a:p>
        </p:txBody>
      </p:sp>
      <p:sp>
        <p:nvSpPr>
          <p:cNvPr id="52" name="Shape 42"/>
          <p:cNvSpPr/>
          <p:nvPr/>
        </p:nvSpPr>
        <p:spPr>
          <a:xfrm>
            <a:off x="2730587" y="8965217"/>
            <a:ext cx="1003332" cy="19051"/>
          </a:xfrm>
          <a:prstGeom prst="rect">
            <a:avLst/>
          </a:prstGeom>
          <a:solidFill>
            <a:srgbClr val="000957"/>
          </a:solidFill>
          <a:ln/>
        </p:spPr>
      </p:sp>
      <p:sp>
        <p:nvSpPr>
          <p:cNvPr id="53" name="Text 43"/>
          <p:cNvSpPr/>
          <p:nvPr/>
        </p:nvSpPr>
        <p:spPr>
          <a:xfrm>
            <a:off x="2730587" y="9041419"/>
            <a:ext cx="1003332" cy="69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spc="108" kern="0" dirty="0">
                <a:solidFill>
                  <a:srgbClr val="3F8C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</a:t>
            </a:r>
            <a:endParaRPr lang="en-US" sz="675" dirty="0"/>
          </a:p>
          <a:p>
            <a:pPr indent="0" marL="0">
              <a:lnSpc>
                <a:spcPts val="1073"/>
              </a:lnSpc>
              <a:spcAft>
                <a:spcPts val="225"/>
              </a:spcAft>
              <a:buNone/>
            </a:pPr>
            <a:r>
              <a:rPr lang="en-US" sz="82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Pre-approval</a:t>
            </a:r>
            <a:endParaRPr lang="en-US" sz="675" dirty="0"/>
          </a:p>
          <a:p>
            <a:pPr indent="0" marL="0">
              <a:lnSpc>
                <a:spcPts val="998"/>
              </a:lnSpc>
              <a:buNone/>
            </a:pPr>
            <a:r>
              <a:rPr lang="en-US" sz="713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Authorities review the application (4–6 weeks)</a:t>
            </a:r>
            <a:endParaRPr lang="en-US" sz="675" dirty="0"/>
          </a:p>
        </p:txBody>
      </p:sp>
      <p:sp>
        <p:nvSpPr>
          <p:cNvPr id="54" name="Shape 44"/>
          <p:cNvSpPr/>
          <p:nvPr/>
        </p:nvSpPr>
        <p:spPr>
          <a:xfrm>
            <a:off x="3829173" y="8965217"/>
            <a:ext cx="1003332" cy="19051"/>
          </a:xfrm>
          <a:prstGeom prst="rect">
            <a:avLst/>
          </a:prstGeom>
          <a:solidFill>
            <a:srgbClr val="000957"/>
          </a:solidFill>
          <a:ln/>
        </p:spPr>
      </p:sp>
      <p:sp>
        <p:nvSpPr>
          <p:cNvPr id="55" name="Text 45"/>
          <p:cNvSpPr/>
          <p:nvPr/>
        </p:nvSpPr>
        <p:spPr>
          <a:xfrm>
            <a:off x="3829173" y="9041419"/>
            <a:ext cx="1003332" cy="69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spc="108" kern="0" dirty="0">
                <a:solidFill>
                  <a:srgbClr val="3F8C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</a:t>
            </a:r>
            <a:endParaRPr lang="en-US" sz="675" dirty="0"/>
          </a:p>
          <a:p>
            <a:pPr indent="0" marL="0">
              <a:lnSpc>
                <a:spcPts val="1073"/>
              </a:lnSpc>
              <a:spcAft>
                <a:spcPts val="225"/>
              </a:spcAft>
              <a:buNone/>
            </a:pPr>
            <a:r>
              <a:rPr lang="en-US" sz="82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Visa Approval</a:t>
            </a:r>
            <a:endParaRPr lang="en-US" sz="675" dirty="0"/>
          </a:p>
          <a:p>
            <a:pPr indent="0" marL="0">
              <a:lnSpc>
                <a:spcPts val="998"/>
              </a:lnSpc>
              <a:buNone/>
            </a:pPr>
            <a:r>
              <a:rPr lang="en-US" sz="713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Visa issued after the investment (2–4 weeks)</a:t>
            </a:r>
            <a:endParaRPr lang="en-US" sz="675" dirty="0"/>
          </a:p>
        </p:txBody>
      </p:sp>
      <p:sp>
        <p:nvSpPr>
          <p:cNvPr id="56" name="Shape 46"/>
          <p:cNvSpPr/>
          <p:nvPr/>
        </p:nvSpPr>
        <p:spPr>
          <a:xfrm>
            <a:off x="4927758" y="8965217"/>
            <a:ext cx="1003332" cy="19051"/>
          </a:xfrm>
          <a:prstGeom prst="rect">
            <a:avLst/>
          </a:prstGeom>
          <a:solidFill>
            <a:srgbClr val="000957"/>
          </a:solidFill>
          <a:ln/>
        </p:spPr>
      </p:sp>
      <p:sp>
        <p:nvSpPr>
          <p:cNvPr id="57" name="Text 47"/>
          <p:cNvSpPr/>
          <p:nvPr/>
        </p:nvSpPr>
        <p:spPr>
          <a:xfrm>
            <a:off x="4927758" y="9041419"/>
            <a:ext cx="1003332" cy="69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spc="108" kern="0" dirty="0">
                <a:solidFill>
                  <a:srgbClr val="3F8C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</a:t>
            </a:r>
            <a:endParaRPr lang="en-US" sz="675" dirty="0"/>
          </a:p>
          <a:p>
            <a:pPr indent="0" marL="0">
              <a:lnSpc>
                <a:spcPts val="1073"/>
              </a:lnSpc>
              <a:spcAft>
                <a:spcPts val="225"/>
              </a:spcAft>
              <a:buNone/>
            </a:pPr>
            <a:r>
              <a:rPr lang="en-US" sz="82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Travel to Country</a:t>
            </a:r>
            <a:endParaRPr lang="en-US" sz="675" dirty="0"/>
          </a:p>
          <a:p>
            <a:pPr indent="0" marL="0">
              <a:lnSpc>
                <a:spcPts val="998"/>
              </a:lnSpc>
              <a:buNone/>
            </a:pPr>
            <a:r>
              <a:rPr lang="en-US" sz="713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Enter and complete local registration</a:t>
            </a:r>
            <a:endParaRPr lang="en-US" sz="675" dirty="0"/>
          </a:p>
        </p:txBody>
      </p:sp>
      <p:sp>
        <p:nvSpPr>
          <p:cNvPr id="58" name="Shape 48"/>
          <p:cNvSpPr/>
          <p:nvPr/>
        </p:nvSpPr>
        <p:spPr>
          <a:xfrm>
            <a:off x="6026343" y="8965217"/>
            <a:ext cx="1003332" cy="19051"/>
          </a:xfrm>
          <a:prstGeom prst="rect">
            <a:avLst/>
          </a:prstGeom>
          <a:solidFill>
            <a:srgbClr val="000957"/>
          </a:solidFill>
          <a:ln/>
        </p:spPr>
      </p:sp>
      <p:sp>
        <p:nvSpPr>
          <p:cNvPr id="59" name="Text 49"/>
          <p:cNvSpPr/>
          <p:nvPr/>
        </p:nvSpPr>
        <p:spPr>
          <a:xfrm>
            <a:off x="6026343" y="9041419"/>
            <a:ext cx="1003332" cy="69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spc="108" kern="0" dirty="0">
                <a:solidFill>
                  <a:srgbClr val="3F8C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</a:t>
            </a:r>
            <a:endParaRPr lang="en-US" sz="675" dirty="0"/>
          </a:p>
          <a:p>
            <a:pPr indent="0" marL="0">
              <a:lnSpc>
                <a:spcPts val="1073"/>
              </a:lnSpc>
              <a:spcAft>
                <a:spcPts val="225"/>
              </a:spcAft>
              <a:buNone/>
            </a:pPr>
            <a:r>
              <a:rPr lang="en-US" sz="825" spc="-12" kern="0" dirty="0">
                <a:solidFill>
                  <a:srgbClr val="16182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Visa Issued</a:t>
            </a:r>
            <a:endParaRPr lang="en-US" sz="675" dirty="0"/>
          </a:p>
          <a:p>
            <a:pPr indent="0" marL="0">
              <a:lnSpc>
                <a:spcPts val="998"/>
              </a:lnSpc>
              <a:buNone/>
            </a:pPr>
            <a:r>
              <a:rPr lang="en-US" sz="713" spc="-12" kern="0" dirty="0">
                <a:solidFill>
                  <a:srgbClr val="4B4E6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Receive residence permit and start your new life</a:t>
            </a:r>
            <a:endParaRPr lang="en-US" sz="675" dirty="0"/>
          </a:p>
        </p:txBody>
      </p:sp>
      <p:sp>
        <p:nvSpPr>
          <p:cNvPr id="60" name="Shape 50"/>
          <p:cNvSpPr/>
          <p:nvPr/>
        </p:nvSpPr>
        <p:spPr>
          <a:xfrm>
            <a:off x="0" y="10292092"/>
            <a:ext cx="7563092" cy="0"/>
          </a:xfrm>
          <a:prstGeom prst="line">
            <a:avLst/>
          </a:prstGeom>
          <a:noFill/>
          <a:ln w="9525">
            <a:solidFill>
              <a:srgbClr val="E0E2EA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533417" y="10411158"/>
            <a:ext cx="2857591" cy="13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750" spc="105" kern="0" dirty="0">
                <a:solidFill>
                  <a:srgbClr val="000957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GLOBALCITIZENSOLUTIONS.COM</a:t>
            </a:r>
            <a:endParaRPr lang="en-US" sz="750" dirty="0"/>
          </a:p>
        </p:txBody>
      </p:sp>
      <p:sp>
        <p:nvSpPr>
          <p:cNvPr id="62" name="Text 52"/>
          <p:cNvSpPr/>
          <p:nvPr/>
        </p:nvSpPr>
        <p:spPr>
          <a:xfrm>
            <a:off x="3219553" y="10411158"/>
            <a:ext cx="3810122" cy="13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spc="-12" kern="0" dirty="0">
                <a:solidFill>
                  <a:srgbClr val="9B9CA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Italy Investor Visa — Factsheet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GCS - DISK 1T/GCS 2026/Github/gcs-design-ops/skills/design-brochure-builder/assets/logos/GCS-Primary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17" y="533417"/>
            <a:ext cx="854326" cy="3048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17" y="5188434"/>
            <a:ext cx="6496258" cy="140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8"/>
              </a:lnSpc>
              <a:buNone/>
            </a:pPr>
            <a:r>
              <a:rPr lang="en-US" sz="5100" spc="-112" kern="0" dirty="0">
                <a:solidFill>
                  <a:srgbClr val="FFFFFF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Our Global</a:t>
            </a:r>
            <a:endParaRPr lang="en-US" sz="5100" dirty="0"/>
          </a:p>
          <a:p>
            <a:pPr indent="0" marL="0">
              <a:lnSpc>
                <a:spcPts val="5508"/>
              </a:lnSpc>
              <a:buNone/>
            </a:pPr>
            <a:r>
              <a:rPr lang="en-US" sz="5100" i="1" spc="-112" kern="0" dirty="0">
                <a:solidFill>
                  <a:srgbClr val="B3B5CD"/>
                </a:solidFill>
                <a:latin typeface="Yrsa" pitchFamily="34" charset="0"/>
                <a:ea typeface="Yrsa" pitchFamily="34" charset="-122"/>
                <a:cs typeface="Yrsa" pitchFamily="34" charset="-120"/>
              </a:rPr>
              <a:t>Presence.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533417" y="6834406"/>
            <a:ext cx="4953158" cy="487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spc="-12" kern="0" dirty="0">
                <a:solidFill>
                  <a:srgbClr val="A8B3C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 operate globally, with teams supporting clients across different regions, both through local offices and dedicated contact points.</a:t>
            </a:r>
            <a:endParaRPr lang="en-US" sz="1200" dirty="0"/>
          </a:p>
        </p:txBody>
      </p:sp>
      <p:pic>
        <p:nvPicPr>
          <p:cNvPr id="5" name="Image 1" descr="/Volumes/GCS - DISK 1T/GCS 2026/Github/gcs-design-ops/skills/design-brochure-builder/assets/icons/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17" y="7779316"/>
            <a:ext cx="171455" cy="1905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417" y="8007924"/>
            <a:ext cx="6496258" cy="53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4"/>
              </a:lnSpc>
              <a:buNone/>
            </a:pPr>
            <a:r>
              <a:rPr lang="en-US" sz="1275" spc="13" kern="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ANTIGUA AND BARBUDA | BRAZIL | DUBAI | GRENADA | ITALY | MALTA | PORTUGAL | SPAIN | ST. LUCIA | SWITZERLAND | TURKEY | UNITED KINGDOM | VANUATU</a:t>
            </a:r>
            <a:endParaRPr lang="en-US" sz="1275" dirty="0"/>
          </a:p>
        </p:txBody>
      </p:sp>
      <p:sp>
        <p:nvSpPr>
          <p:cNvPr id="7" name="Shape 3"/>
          <p:cNvSpPr/>
          <p:nvPr/>
        </p:nvSpPr>
        <p:spPr>
          <a:xfrm>
            <a:off x="533417" y="9018559"/>
            <a:ext cx="6496258" cy="0"/>
          </a:xfrm>
          <a:prstGeom prst="line">
            <a:avLst/>
          </a:prstGeom>
          <a:noFill/>
          <a:ln w="9525">
            <a:solidFill>
              <a:srgbClr val="1A226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33417" y="9616748"/>
            <a:ext cx="2857591" cy="14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spc="165" kern="0" dirty="0">
                <a:solidFill>
                  <a:srgbClr val="B3B5C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GLOBALCITIZENSOLUTIONS.COM</a:t>
            </a:r>
            <a:endParaRPr lang="en-US" sz="825" dirty="0"/>
          </a:p>
        </p:txBody>
      </p:sp>
      <p:pic>
        <p:nvPicPr>
          <p:cNvPr id="9" name="Image 2" descr="/Volumes/GCS - DISK 1T/GCS 2026/Github/gcs-design-ops/skills/design-brochure-builder/assets/icons/linkedin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17" y="9953944"/>
            <a:ext cx="209557" cy="209557"/>
          </a:xfrm>
          <a:prstGeom prst="rect">
            <a:avLst/>
          </a:prstGeom>
        </p:spPr>
      </p:pic>
      <p:pic>
        <p:nvPicPr>
          <p:cNvPr id="10" name="Image 3" descr="/Volumes/GCS - DISK 1T/GCS 2026/Github/gcs-design-ops/skills/design-brochure-builder/assets/icons/facebook.png">
            <a:hlinkClick r:id="rId7" tooltip="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28" y="9953944"/>
            <a:ext cx="209557" cy="209557"/>
          </a:xfrm>
          <a:prstGeom prst="rect">
            <a:avLst/>
          </a:prstGeom>
        </p:spPr>
      </p:pic>
      <p:pic>
        <p:nvPicPr>
          <p:cNvPr id="11" name="Image 4" descr="/Volumes/GCS - DISK 1T/GCS 2026/Github/gcs-design-ops/skills/design-brochure-builder/assets/icons/instagram.png">
            <a:hlinkClick r:id="rId9" tooltip="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39" y="9953944"/>
            <a:ext cx="209557" cy="209557"/>
          </a:xfrm>
          <a:prstGeom prst="rect">
            <a:avLst/>
          </a:prstGeom>
        </p:spPr>
      </p:pic>
      <p:pic>
        <p:nvPicPr>
          <p:cNvPr id="12" name="Image 5" descr="/Volumes/GCS - DISK 1T/GCS 2026/Github/gcs-design-ops/skills/design-brochure-builder/assets/icons/youtube.png">
            <a:hlinkClick r:id="rId11" tooltip="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2150" y="9953944"/>
            <a:ext cx="209557" cy="20955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314963" y="9256691"/>
            <a:ext cx="2714712" cy="3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975" spc="-12" kern="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8–10 Hill Street, London</a:t>
            </a:r>
            <a:endParaRPr lang="en-US" sz="975" dirty="0"/>
          </a:p>
          <a:p>
            <a:pPr algn="r" indent="0" marL="0">
              <a:lnSpc>
                <a:spcPts val="1560"/>
              </a:lnSpc>
              <a:buNone/>
            </a:pPr>
            <a:r>
              <a:rPr lang="en-US" sz="975" spc="-12" kern="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W1J 5NG — United Kingdom</a:t>
            </a:r>
            <a:endParaRPr lang="en-US" sz="975" dirty="0"/>
          </a:p>
        </p:txBody>
      </p:sp>
      <p:sp>
        <p:nvSpPr>
          <p:cNvPr id="14" name="Text 6"/>
          <p:cNvSpPr/>
          <p:nvPr/>
        </p:nvSpPr>
        <p:spPr>
          <a:xfrm>
            <a:off x="4314963" y="9729146"/>
            <a:ext cx="2714712" cy="3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975" spc="-12" kern="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+44 20 8068 3119</a:t>
            </a:r>
            <a:endParaRPr lang="en-US" sz="975" dirty="0"/>
          </a:p>
          <a:p>
            <a:pPr algn="r" indent="0" marL="0">
              <a:lnSpc>
                <a:spcPts val="1560"/>
              </a:lnSpc>
              <a:buNone/>
            </a:pPr>
            <a:r>
              <a:rPr lang="en-US" sz="975" spc="-12" kern="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info@globalcitizensolutions.com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Italy Investor Visa — GCS Factsheet</dc:title>
  <dc:subject>PptxGenJS Presentation</dc:subject>
  <dc:creator>Global Citizen Solutions</dc:creator>
  <cp:lastModifiedBy>Global Citizen Solutions</cp:lastModifiedBy>
  <cp:revision>1</cp:revision>
  <dcterms:created xsi:type="dcterms:W3CDTF">2026-10-01T18:02:31Z</dcterms:created>
  <dcterms:modified xsi:type="dcterms:W3CDTF">2026-10-01T18:02:31Z</dcterms:modified>
</cp:coreProperties>
</file>