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embedTrueTypeFonts="1">
  <p:sldMasterIdLst>
    <p:sldMasterId id="2147483648" r:id="rId1"/>
  </p:sldMasterIdLst>
  <p:sldIdLst>
    <p:sldId id="256" r:id="rId2"/>
    <p:sldId id="257" r:id="rId3"/>
    <p:sldId id="258" r:id="rId4"/>
    <p:sldId id="259" r:id="rId5"/>
    <p:sldId id="260" r:id="rId6"/>
  </p:sldIdLst>
  <p:notesMasterIdLst>
    <p:notesMasterId r:id="rId7"/>
  </p:notesMasterIdLst>
  <p:sldSz cx="7562088" cy="10689336"/>
  <p:notesSz cx="10689336" cy="7562088"/>
  <p:embeddedFontLst>
    <p:embeddedFont>
      <p:font typeface="Heebo Light"/>
      <p:regular r:id="rId12"/>
    </p:embeddedFont>
    <p:embeddedFont>
      <p:font typeface="Heebo"/>
      <p:regular r:id="rId13"/>
    </p:embeddedFont>
    <p:embeddedFont>
      <p:font typeface="Heebo Medium"/>
      <p:regular r:id="rId14"/>
    </p:embeddedFont>
    <p:embeddedFont>
      <p:font typeface="Heebo SemiBold"/>
      <p:regular r:id="rId15"/>
    </p:embeddedFont>
    <p:embeddedFont>
      <p:font typeface="Heebo Bold"/>
      <p:regular r:id="rId16"/>
    </p:embeddedFont>
    <p:embeddedFont>
      <p:font typeface="Yrsa"/>
      <p:regular r:id="rId17"/>
      <p:italic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notesMaster" Target="notesMasters/notesMaster1.xml" /><Relationship Id="rId8" Type="http://schemas.openxmlformats.org/officeDocument/2006/relationships/presProps" Target="presProps.xml" /><Relationship Id="rId9" Type="http://schemas.openxmlformats.org/officeDocument/2006/relationships/viewProps" Target="viewProps.xml" /><Relationship Id="rId10" Type="http://schemas.openxmlformats.org/officeDocument/2006/relationships/theme" Target="theme/theme1.xml" /><Relationship Id="rId11" Type="http://schemas.openxmlformats.org/officeDocument/2006/relationships/tableStyles" Target="tableStyles.xml" /><Relationship Id="rId12" Type="http://schemas.openxmlformats.org/officeDocument/2006/relationships/font" Target="fonts/font1.fntdata" /><Relationship Id="rId13" Type="http://schemas.openxmlformats.org/officeDocument/2006/relationships/font" Target="fonts/font2.fntdata" /><Relationship Id="rId14" Type="http://schemas.openxmlformats.org/officeDocument/2006/relationships/font" Target="fonts/font3.fntdata" /><Relationship Id="rId15" Type="http://schemas.openxmlformats.org/officeDocument/2006/relationships/font" Target="fonts/font4.fntdata" /><Relationship Id="rId16" Type="http://schemas.openxmlformats.org/officeDocument/2006/relationships/font" Target="fonts/font5.fntdata" /><Relationship Id="rId17" Type="http://schemas.openxmlformats.org/officeDocument/2006/relationships/font" Target="fonts/font6.fntdata" /><Relationship Id="rId18" Type="http://schemas.openxmlformats.org/officeDocument/2006/relationships/font" Target="fonts/font7.fntdata"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victortorres/Library/Application Support/Claude/local-agent-mode-sessions/skills-plugin/d3e5681c-1000-4051-bb23-bb4f6aee7624/c3107115-7538-4e27-8275-14cfa1f9e1e7/skills/design-brochure-builder/assets/covers/background-cover-gcs.png">    </p:cNvPr>
          <p:cNvPicPr>
            <a:picLocks noChangeAspect="1"/>
          </p:cNvPicPr>
          <p:nvPr/>
        </p:nvPicPr>
        <p:blipFill>
          <a:blip r:embed="rId1"/>
          <a:srcRect l="0" r="0" t="0" b="0"/>
          <a:stretch/>
        </p:blipFill>
        <p:spPr>
          <a:xfrm>
            <a:off x="0" y="0"/>
            <a:ext cx="7562088" cy="10689336"/>
          </a:xfrm>
          <a:prstGeom prst="rect">
            <a:avLst/>
          </a:prstGeom>
        </p:spPr>
      </p:pic>
      <p:pic>
        <p:nvPicPr>
          <p:cNvPr id="3" name="Image 1" descr="/Users/victortorres/Library/Application Support/Claude/local-agent-mode-sessions/skills-plugin/d3e5681c-1000-4051-bb23-bb4f6aee7624/c3107115-7538-4e27-8275-14cfa1f9e1e7/skills/design-brochure-builder/assets/logos/GCS-Symbol-White.png">    </p:cNvPr>
          <p:cNvPicPr>
            <a:picLocks noChangeAspect="1"/>
          </p:cNvPicPr>
          <p:nvPr/>
        </p:nvPicPr>
        <p:blipFill>
          <a:blip r:embed="rId2"/>
          <a:stretch>
            <a:fillRect/>
          </a:stretch>
        </p:blipFill>
        <p:spPr>
          <a:xfrm>
            <a:off x="533417" y="457215"/>
            <a:ext cx="400507" cy="400507"/>
          </a:xfrm>
          <a:prstGeom prst="rect">
            <a:avLst/>
          </a:prstGeom>
        </p:spPr>
      </p:pic>
      <p:sp>
        <p:nvSpPr>
          <p:cNvPr id="4" name="Text 0"/>
          <p:cNvSpPr/>
          <p:nvPr/>
        </p:nvSpPr>
        <p:spPr>
          <a:xfrm>
            <a:off x="3781044" y="512079"/>
            <a:ext cx="3247627" cy="182880"/>
          </a:xfrm>
          <a:prstGeom prst="rect">
            <a:avLst/>
          </a:prstGeom>
          <a:noFill/>
          <a:ln/>
        </p:spPr>
        <p:txBody>
          <a:bodyPr wrap="square" lIns="0" tIns="0" rIns="0" bIns="0" rtlCol="0" anchor="ctr"/>
          <a:lstStyle/>
          <a:p>
            <a:pPr algn="r" indent="0" marL="0">
              <a:buNone/>
            </a:pPr>
            <a:r>
              <a:rPr lang="en-US" sz="750" spc="350" kern="0" dirty="0">
                <a:solidFill>
                  <a:srgbClr val="8C90B3"/>
                </a:solidFill>
                <a:latin typeface="Heebo Medium" pitchFamily="34" charset="0"/>
                <a:ea typeface="Heebo Medium" pitchFamily="34" charset="-122"/>
                <a:cs typeface="Heebo Medium" pitchFamily="34" charset="-120"/>
              </a:rPr>
              <a:t>CITIZENSHIP BY INVESTMENT · FACTSHEET</a:t>
            </a:r>
            <a:endParaRPr lang="en-US" sz="750" dirty="0"/>
          </a:p>
        </p:txBody>
      </p:sp>
      <p:sp>
        <p:nvSpPr>
          <p:cNvPr id="5" name="Text 1"/>
          <p:cNvSpPr/>
          <p:nvPr/>
        </p:nvSpPr>
        <p:spPr>
          <a:xfrm>
            <a:off x="533417" y="9302476"/>
            <a:ext cx="4572000" cy="777240"/>
          </a:xfrm>
          <a:prstGeom prst="rect">
            <a:avLst/>
          </a:prstGeom>
          <a:noFill/>
          <a:ln/>
        </p:spPr>
        <p:txBody>
          <a:bodyPr wrap="square" lIns="0" tIns="0" rIns="0" bIns="0" rtlCol="0" anchor="t"/>
          <a:lstStyle/>
          <a:p>
            <a:pPr indent="0" marL="0">
              <a:lnSpc>
                <a:spcPct val="170000"/>
              </a:lnSpc>
              <a:buNone/>
            </a:pPr>
            <a:r>
              <a:rPr lang="en-US" sz="975" dirty="0">
                <a:solidFill>
                  <a:srgbClr val="999DBC"/>
                </a:solidFill>
                <a:latin typeface="Heebo Light" pitchFamily="34" charset="0"/>
                <a:ea typeface="Heebo Light" pitchFamily="34" charset="-122"/>
                <a:cs typeface="Heebo Light" pitchFamily="34" charset="-120"/>
              </a:rPr>
              <a:t>The only Caribbean CBI programme with a US E-2 Treaty Investor Visa — established in 2013 and known as the "Spice Island" pathway to global mobility.</a:t>
            </a:r>
            <a:endParaRPr lang="en-US" sz="975" dirty="0"/>
          </a:p>
        </p:txBody>
      </p:sp>
      <p:sp>
        <p:nvSpPr>
          <p:cNvPr id="6" name="Shape 2"/>
          <p:cNvSpPr/>
          <p:nvPr/>
        </p:nvSpPr>
        <p:spPr>
          <a:xfrm>
            <a:off x="533417" y="9019012"/>
            <a:ext cx="457200" cy="19202"/>
          </a:xfrm>
          <a:prstGeom prst="rect">
            <a:avLst/>
          </a:prstGeom>
          <a:solidFill>
            <a:srgbClr val="3D51E8"/>
          </a:solidFill>
          <a:ln/>
        </p:spPr>
      </p:sp>
      <p:sp>
        <p:nvSpPr>
          <p:cNvPr id="7" name="Text 3"/>
          <p:cNvSpPr/>
          <p:nvPr/>
        </p:nvSpPr>
        <p:spPr>
          <a:xfrm>
            <a:off x="533417" y="7434052"/>
            <a:ext cx="6495254" cy="1338072"/>
          </a:xfrm>
          <a:prstGeom prst="rect">
            <a:avLst/>
          </a:prstGeom>
          <a:noFill/>
          <a:ln/>
        </p:spPr>
        <p:txBody>
          <a:bodyPr wrap="square" lIns="0" tIns="0" rIns="0" bIns="0" rtlCol="0" anchor="t"/>
          <a:lstStyle/>
          <a:p>
            <a:pPr indent="0" marL="0">
              <a:buNone/>
            </a:pPr>
            <a:r>
              <a:rPr lang="en-US" sz="4800" i="1" spc="-110" kern="0" dirty="0">
                <a:solidFill>
                  <a:srgbClr val="B3B5CD"/>
                </a:solidFill>
                <a:latin typeface="Yrsa" pitchFamily="34" charset="0"/>
                <a:ea typeface="Yrsa" pitchFamily="34" charset="-122"/>
                <a:cs typeface="Yrsa" pitchFamily="34" charset="-120"/>
              </a:rPr>
              <a:t>Citizenship by Investment</a:t>
            </a:r>
            <a:endParaRPr lang="en-US" sz="4800" dirty="0"/>
          </a:p>
        </p:txBody>
      </p:sp>
      <p:sp>
        <p:nvSpPr>
          <p:cNvPr id="8" name="Text 4"/>
          <p:cNvSpPr/>
          <p:nvPr/>
        </p:nvSpPr>
        <p:spPr>
          <a:xfrm>
            <a:off x="533417" y="6742156"/>
            <a:ext cx="6495254" cy="691896"/>
          </a:xfrm>
          <a:prstGeom prst="rect">
            <a:avLst/>
          </a:prstGeom>
          <a:noFill/>
          <a:ln/>
        </p:spPr>
        <p:txBody>
          <a:bodyPr wrap="square" lIns="0" tIns="0" rIns="0" bIns="0" rtlCol="0" anchor="t"/>
          <a:lstStyle/>
          <a:p>
            <a:pPr indent="0" marL="0">
              <a:buNone/>
            </a:pPr>
            <a:r>
              <a:rPr lang="en-US" sz="4800" spc="-110" kern="0" dirty="0">
                <a:solidFill>
                  <a:srgbClr val="FFFFFF"/>
                </a:solidFill>
                <a:latin typeface="Yrsa" pitchFamily="34" charset="0"/>
                <a:ea typeface="Yrsa" pitchFamily="34" charset="-122"/>
                <a:cs typeface="Yrsa" pitchFamily="34" charset="-120"/>
              </a:rPr>
              <a:t>Grenada</a:t>
            </a:r>
            <a:endParaRPr lang="en-US" sz="4800" dirty="0"/>
          </a:p>
        </p:txBody>
      </p:sp>
      <p:sp>
        <p:nvSpPr>
          <p:cNvPr id="9" name="Text 5"/>
          <p:cNvSpPr/>
          <p:nvPr/>
        </p:nvSpPr>
        <p:spPr>
          <a:xfrm>
            <a:off x="533417" y="6385540"/>
            <a:ext cx="6495254" cy="182880"/>
          </a:xfrm>
          <a:prstGeom prst="rect">
            <a:avLst/>
          </a:prstGeom>
          <a:noFill/>
          <a:ln/>
        </p:spPr>
        <p:txBody>
          <a:bodyPr wrap="square" lIns="0" tIns="0" rIns="0" bIns="0" rtlCol="0" anchor="t"/>
          <a:lstStyle/>
          <a:p>
            <a:pPr indent="0" marL="0">
              <a:buNone/>
            </a:pPr>
            <a:r>
              <a:rPr lang="en-US" sz="750" spc="400" kern="0" dirty="0">
                <a:solidFill>
                  <a:srgbClr val="8084AB"/>
                </a:solidFill>
                <a:latin typeface="Heebo Medium" pitchFamily="34" charset="0"/>
                <a:ea typeface="Heebo Medium" pitchFamily="34" charset="-122"/>
                <a:cs typeface="Heebo Medium" pitchFamily="34" charset="-120"/>
              </a:rPr>
              <a:t>US E-2 TREATY · EST. 2013 · COMMONWEALTH · CARICOM</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620" y="0"/>
            <a:ext cx="3805709" cy="533417"/>
          </a:xfrm>
          <a:prstGeom prst="rect">
            <a:avLst/>
          </a:prstGeom>
          <a:noFill/>
          <a:ln/>
        </p:spPr>
        <p:txBody>
          <a:bodyPr wrap="square" lIns="0" tIns="0" rIns="0" bIns="0" rtlCol="0" anchor="ctr"/>
          <a:lstStyle/>
          <a:p>
            <a:pPr indent="0" marL="0">
              <a:buNone/>
            </a:pPr>
            <a:r>
              <a:rPr lang="en-US" sz="750" spc="320" kern="0" dirty="0">
                <a:solidFill>
                  <a:srgbClr val="9B9CAD"/>
                </a:solidFill>
                <a:latin typeface="Heebo Medium" pitchFamily="34" charset="0"/>
                <a:ea typeface="Heebo Medium" pitchFamily="34" charset="-122"/>
                <a:cs typeface="Heebo Medium" pitchFamily="34" charset="-120"/>
              </a:rPr>
              <a:t>GRENADA · CITIZENSHIP BY INVESTMENT</a:t>
            </a:r>
            <a:endParaRPr lang="en-US" sz="750" dirty="0"/>
          </a:p>
        </p:txBody>
      </p:sp>
      <p:pic>
        <p:nvPicPr>
          <p:cNvPr id="3" name="Image 0" descr="/Users/victortorres/Library/Application Support/Claude/local-agent-mode-sessions/skills-plugin/d3e5681c-1000-4051-bb23-bb4f6aee7624/c3107115-7538-4e27-8275-14cfa1f9e1e7/skills/design-brochure-builder/assets/logos/GCS-Secondary-Blue.png">    </p:cNvPr>
          <p:cNvPicPr>
            <a:picLocks noChangeAspect="1"/>
          </p:cNvPicPr>
          <p:nvPr/>
        </p:nvPicPr>
        <p:blipFill>
          <a:blip r:embed="rId1"/>
          <a:stretch>
            <a:fillRect/>
          </a:stretch>
        </p:blipFill>
        <p:spPr>
          <a:xfrm>
            <a:off x="5282344" y="214131"/>
            <a:ext cx="1670125" cy="105156"/>
          </a:xfrm>
          <a:prstGeom prst="rect">
            <a:avLst/>
          </a:prstGeom>
        </p:spPr>
      </p:pic>
      <p:sp>
        <p:nvSpPr>
          <p:cNvPr id="4" name="Shape 1"/>
          <p:cNvSpPr/>
          <p:nvPr/>
        </p:nvSpPr>
        <p:spPr>
          <a:xfrm>
            <a:off x="609620" y="533417"/>
            <a:ext cx="6342849" cy="0"/>
          </a:xfrm>
          <a:prstGeom prst="line">
            <a:avLst/>
          </a:prstGeom>
          <a:noFill/>
          <a:ln w="9525">
            <a:solidFill>
              <a:srgbClr val="E0E2EA"/>
            </a:solidFill>
            <a:prstDash val="solid"/>
          </a:ln>
        </p:spPr>
      </p:sp>
      <p:sp>
        <p:nvSpPr>
          <p:cNvPr id="5" name="Shape 2"/>
          <p:cNvSpPr/>
          <p:nvPr/>
        </p:nvSpPr>
        <p:spPr>
          <a:xfrm>
            <a:off x="609620" y="10270223"/>
            <a:ext cx="6342849" cy="0"/>
          </a:xfrm>
          <a:prstGeom prst="line">
            <a:avLst/>
          </a:prstGeom>
          <a:noFill/>
          <a:ln w="9525">
            <a:solidFill>
              <a:srgbClr val="E0E2EA"/>
            </a:solidFill>
            <a:prstDash val="solid"/>
          </a:ln>
        </p:spPr>
      </p:sp>
      <p:sp>
        <p:nvSpPr>
          <p:cNvPr id="6" name="Text 3"/>
          <p:cNvSpPr/>
          <p:nvPr/>
        </p:nvSpPr>
        <p:spPr>
          <a:xfrm>
            <a:off x="609620" y="10388339"/>
            <a:ext cx="4439994" cy="182880"/>
          </a:xfrm>
          <a:prstGeom prst="rect">
            <a:avLst/>
          </a:prstGeom>
          <a:noFill/>
          <a:ln/>
        </p:spPr>
        <p:txBody>
          <a:bodyPr wrap="square" lIns="0" tIns="0" rIns="0" bIns="0" rtlCol="0" anchor="ctr"/>
          <a:lstStyle/>
          <a:p>
            <a:pPr indent="0" marL="0">
              <a:buNone/>
            </a:pPr>
            <a:r>
              <a:rPr lang="en-US" sz="825" dirty="0">
                <a:solidFill>
                  <a:srgbClr val="C6C8D5"/>
                </a:solidFill>
                <a:latin typeface="Heebo" pitchFamily="34" charset="0"/>
                <a:ea typeface="Heebo" pitchFamily="34" charset="-122"/>
                <a:cs typeface="Heebo" pitchFamily="34" charset="-120"/>
              </a:rPr>
              <a:t>© 2026 Global Citizen Solutions — Confidential</a:t>
            </a:r>
            <a:endParaRPr lang="en-US" sz="825" dirty="0"/>
          </a:p>
        </p:txBody>
      </p:sp>
      <p:sp>
        <p:nvSpPr>
          <p:cNvPr id="7" name="Text 4"/>
          <p:cNvSpPr/>
          <p:nvPr/>
        </p:nvSpPr>
        <p:spPr>
          <a:xfrm>
            <a:off x="5049614" y="10388339"/>
            <a:ext cx="1902855" cy="182880"/>
          </a:xfrm>
          <a:prstGeom prst="rect">
            <a:avLst/>
          </a:prstGeom>
          <a:noFill/>
          <a:ln/>
        </p:spPr>
        <p:txBody>
          <a:bodyPr wrap="square" lIns="0" tIns="0" rIns="0" bIns="0" rtlCol="0" anchor="ctr"/>
          <a:lstStyle/>
          <a:p>
            <a:pPr algn="r" indent="0" marL="0">
              <a:buNone/>
            </a:pPr>
            <a:r>
              <a:rPr lang="en-US" sz="825" spc="150" kern="0" dirty="0">
                <a:solidFill>
                  <a:srgbClr val="C6C8D5"/>
                </a:solidFill>
                <a:latin typeface="Heebo" pitchFamily="34" charset="0"/>
                <a:ea typeface="Heebo" pitchFamily="34" charset="-122"/>
                <a:cs typeface="Heebo" pitchFamily="34" charset="-120"/>
              </a:rPr>
              <a:t>02</a:t>
            </a:r>
            <a:endParaRPr lang="en-US" sz="825" dirty="0"/>
          </a:p>
        </p:txBody>
      </p:sp>
      <p:sp>
        <p:nvSpPr>
          <p:cNvPr id="8" name="Shape 5"/>
          <p:cNvSpPr/>
          <p:nvPr/>
        </p:nvSpPr>
        <p:spPr>
          <a:xfrm>
            <a:off x="609620" y="1028733"/>
            <a:ext cx="6342849" cy="999096"/>
          </a:xfrm>
          <a:prstGeom prst="rect">
            <a:avLst>
              <a:gd name="adj" fmla="val 5720"/>
            </a:avLst>
          </a:prstGeom>
          <a:solidFill>
            <a:srgbClr val="000957"/>
          </a:solidFill>
          <a:ln/>
        </p:spPr>
      </p:sp>
      <p:sp>
        <p:nvSpPr>
          <p:cNvPr id="9" name="Shape 6"/>
          <p:cNvSpPr/>
          <p:nvPr/>
        </p:nvSpPr>
        <p:spPr>
          <a:xfrm>
            <a:off x="2195332" y="1165893"/>
            <a:ext cx="0" cy="724776"/>
          </a:xfrm>
          <a:prstGeom prst="line">
            <a:avLst/>
          </a:prstGeom>
          <a:noFill/>
          <a:ln w="9525">
            <a:solidFill>
              <a:srgbClr val="1A2268"/>
            </a:solidFill>
            <a:prstDash val="solid"/>
          </a:ln>
        </p:spPr>
      </p:sp>
      <p:sp>
        <p:nvSpPr>
          <p:cNvPr id="10" name="Text 7"/>
          <p:cNvSpPr/>
          <p:nvPr/>
        </p:nvSpPr>
        <p:spPr>
          <a:xfrm>
            <a:off x="799815" y="1200183"/>
            <a:ext cx="1205322" cy="118872"/>
          </a:xfrm>
          <a:prstGeom prst="rect">
            <a:avLst/>
          </a:prstGeom>
          <a:noFill/>
          <a:ln/>
        </p:spPr>
        <p:txBody>
          <a:bodyPr wrap="square" lIns="0" tIns="0" rIns="0" bIns="0" rtlCol="0" anchor="t"/>
          <a:lstStyle/>
          <a:p>
            <a:pPr indent="0" marL="0">
              <a:buNone/>
            </a:pPr>
            <a:r>
              <a:rPr lang="en-US" sz="700" spc="200" kern="0" dirty="0">
                <a:solidFill>
                  <a:srgbClr val="3D51E8"/>
                </a:solidFill>
                <a:latin typeface="Heebo Bold" pitchFamily="34" charset="0"/>
                <a:ea typeface="Heebo Bold" pitchFamily="34" charset="-122"/>
                <a:cs typeface="Heebo Bold" pitchFamily="34" charset="-120"/>
              </a:rPr>
              <a:t>POPULATION</a:t>
            </a:r>
            <a:endParaRPr lang="en-US" sz="700" dirty="0"/>
          </a:p>
        </p:txBody>
      </p:sp>
      <p:sp>
        <p:nvSpPr>
          <p:cNvPr id="11" name="Text 8"/>
          <p:cNvSpPr/>
          <p:nvPr/>
        </p:nvSpPr>
        <p:spPr>
          <a:xfrm>
            <a:off x="799815" y="1373919"/>
            <a:ext cx="1205322" cy="283464"/>
          </a:xfrm>
          <a:prstGeom prst="rect">
            <a:avLst/>
          </a:prstGeom>
          <a:noFill/>
          <a:ln/>
        </p:spPr>
        <p:txBody>
          <a:bodyPr wrap="square" lIns="0" tIns="0" rIns="0" bIns="0" rtlCol="0" anchor="t"/>
          <a:lstStyle/>
          <a:p>
            <a:pPr indent="0" marL="0">
              <a:buNone/>
            </a:pPr>
            <a:r>
              <a:rPr lang="en-US" sz="2200" dirty="0">
                <a:solidFill>
                  <a:srgbClr val="FFFFFF"/>
                </a:solidFill>
                <a:latin typeface="Yrsa" pitchFamily="34" charset="0"/>
                <a:ea typeface="Yrsa" pitchFamily="34" charset="-122"/>
                <a:cs typeface="Yrsa" pitchFamily="34" charset="-120"/>
              </a:rPr>
              <a:t>~117,000</a:t>
            </a:r>
            <a:endParaRPr lang="en-US" sz="2200" dirty="0"/>
          </a:p>
        </p:txBody>
      </p:sp>
      <p:sp>
        <p:nvSpPr>
          <p:cNvPr id="12" name="Text 9"/>
          <p:cNvSpPr/>
          <p:nvPr/>
        </p:nvSpPr>
        <p:spPr>
          <a:xfrm>
            <a:off x="799815" y="1712247"/>
            <a:ext cx="1205322" cy="162878"/>
          </a:xfrm>
          <a:prstGeom prst="rect">
            <a:avLst/>
          </a:prstGeom>
          <a:noFill/>
          <a:ln/>
        </p:spPr>
        <p:txBody>
          <a:bodyPr wrap="square" lIns="0" tIns="0" rIns="0" bIns="0" rtlCol="0" anchor="t"/>
          <a:lstStyle/>
          <a:p>
            <a:pPr indent="0" marL="0">
              <a:lnSpc>
                <a:spcPct val="135000"/>
              </a:lnSpc>
              <a:buNone/>
            </a:pPr>
            <a:endParaRPr lang="en-US" sz="950" dirty="0"/>
          </a:p>
        </p:txBody>
      </p:sp>
      <p:sp>
        <p:nvSpPr>
          <p:cNvPr id="13" name="Shape 10"/>
          <p:cNvSpPr/>
          <p:nvPr/>
        </p:nvSpPr>
        <p:spPr>
          <a:xfrm>
            <a:off x="3781044" y="1165893"/>
            <a:ext cx="0" cy="724776"/>
          </a:xfrm>
          <a:prstGeom prst="line">
            <a:avLst/>
          </a:prstGeom>
          <a:noFill/>
          <a:ln w="9525">
            <a:solidFill>
              <a:srgbClr val="1A2268"/>
            </a:solidFill>
            <a:prstDash val="solid"/>
          </a:ln>
        </p:spPr>
      </p:sp>
      <p:sp>
        <p:nvSpPr>
          <p:cNvPr id="14" name="Text 11"/>
          <p:cNvSpPr/>
          <p:nvPr/>
        </p:nvSpPr>
        <p:spPr>
          <a:xfrm>
            <a:off x="2385527" y="1200183"/>
            <a:ext cx="1205322" cy="118872"/>
          </a:xfrm>
          <a:prstGeom prst="rect">
            <a:avLst/>
          </a:prstGeom>
          <a:noFill/>
          <a:ln/>
        </p:spPr>
        <p:txBody>
          <a:bodyPr wrap="square" lIns="0" tIns="0" rIns="0" bIns="0" rtlCol="0" anchor="t"/>
          <a:lstStyle/>
          <a:p>
            <a:pPr indent="0" marL="0">
              <a:buNone/>
            </a:pPr>
            <a:r>
              <a:rPr lang="en-US" sz="700" spc="200" kern="0" dirty="0">
                <a:solidFill>
                  <a:srgbClr val="3D51E8"/>
                </a:solidFill>
                <a:latin typeface="Heebo Bold" pitchFamily="34" charset="0"/>
                <a:ea typeface="Heebo Bold" pitchFamily="34" charset="-122"/>
                <a:cs typeface="Heebo Bold" pitchFamily="34" charset="-120"/>
              </a:rPr>
              <a:t>CURRENCY</a:t>
            </a:r>
            <a:endParaRPr lang="en-US" sz="700" dirty="0"/>
          </a:p>
        </p:txBody>
      </p:sp>
      <p:sp>
        <p:nvSpPr>
          <p:cNvPr id="15" name="Text 12"/>
          <p:cNvSpPr/>
          <p:nvPr/>
        </p:nvSpPr>
        <p:spPr>
          <a:xfrm>
            <a:off x="2385527" y="1373919"/>
            <a:ext cx="1205322" cy="283464"/>
          </a:xfrm>
          <a:prstGeom prst="rect">
            <a:avLst/>
          </a:prstGeom>
          <a:noFill/>
          <a:ln/>
        </p:spPr>
        <p:txBody>
          <a:bodyPr wrap="square" lIns="0" tIns="0" rIns="0" bIns="0" rtlCol="0" anchor="t"/>
          <a:lstStyle/>
          <a:p>
            <a:pPr indent="0" marL="0">
              <a:buNone/>
            </a:pPr>
            <a:r>
              <a:rPr lang="en-US" sz="2200" dirty="0">
                <a:solidFill>
                  <a:srgbClr val="FFFFFF"/>
                </a:solidFill>
                <a:latin typeface="Yrsa" pitchFamily="34" charset="0"/>
                <a:ea typeface="Yrsa" pitchFamily="34" charset="-122"/>
                <a:cs typeface="Yrsa" pitchFamily="34" charset="-120"/>
              </a:rPr>
              <a:t>XCD / USD</a:t>
            </a:r>
            <a:endParaRPr lang="en-US" sz="2200" dirty="0"/>
          </a:p>
        </p:txBody>
      </p:sp>
      <p:sp>
        <p:nvSpPr>
          <p:cNvPr id="16" name="Text 13"/>
          <p:cNvSpPr/>
          <p:nvPr/>
        </p:nvSpPr>
        <p:spPr>
          <a:xfrm>
            <a:off x="2385527" y="1712247"/>
            <a:ext cx="1205322" cy="162878"/>
          </a:xfrm>
          <a:prstGeom prst="rect">
            <a:avLst/>
          </a:prstGeom>
          <a:noFill/>
          <a:ln/>
        </p:spPr>
        <p:txBody>
          <a:bodyPr wrap="square" lIns="0" tIns="0" rIns="0" bIns="0" rtlCol="0" anchor="t"/>
          <a:lstStyle/>
          <a:p>
            <a:pPr indent="0" marL="0">
              <a:lnSpc>
                <a:spcPct val="135000"/>
              </a:lnSpc>
              <a:buNone/>
            </a:pPr>
            <a:r>
              <a:rPr lang="en-US" sz="950" dirty="0">
                <a:solidFill>
                  <a:srgbClr val="8084AB"/>
                </a:solidFill>
                <a:latin typeface="Heebo Light" pitchFamily="34" charset="0"/>
                <a:ea typeface="Heebo Light" pitchFamily="34" charset="-122"/>
                <a:cs typeface="Heebo Light" pitchFamily="34" charset="-120"/>
              </a:rPr>
              <a:t>EC$, pegged</a:t>
            </a:r>
            <a:endParaRPr lang="en-US" sz="950" dirty="0"/>
          </a:p>
        </p:txBody>
      </p:sp>
      <p:sp>
        <p:nvSpPr>
          <p:cNvPr id="17" name="Shape 14"/>
          <p:cNvSpPr/>
          <p:nvPr/>
        </p:nvSpPr>
        <p:spPr>
          <a:xfrm>
            <a:off x="5366756" y="1165893"/>
            <a:ext cx="0" cy="724776"/>
          </a:xfrm>
          <a:prstGeom prst="line">
            <a:avLst/>
          </a:prstGeom>
          <a:noFill/>
          <a:ln w="9525">
            <a:solidFill>
              <a:srgbClr val="1A2268"/>
            </a:solidFill>
            <a:prstDash val="solid"/>
          </a:ln>
        </p:spPr>
      </p:sp>
      <p:sp>
        <p:nvSpPr>
          <p:cNvPr id="18" name="Text 15"/>
          <p:cNvSpPr/>
          <p:nvPr/>
        </p:nvSpPr>
        <p:spPr>
          <a:xfrm>
            <a:off x="3971239" y="1200183"/>
            <a:ext cx="1205322" cy="118872"/>
          </a:xfrm>
          <a:prstGeom prst="rect">
            <a:avLst/>
          </a:prstGeom>
          <a:noFill/>
          <a:ln/>
        </p:spPr>
        <p:txBody>
          <a:bodyPr wrap="square" lIns="0" tIns="0" rIns="0" bIns="0" rtlCol="0" anchor="t"/>
          <a:lstStyle/>
          <a:p>
            <a:pPr indent="0" marL="0">
              <a:buNone/>
            </a:pPr>
            <a:r>
              <a:rPr lang="en-US" sz="700" spc="200" kern="0" dirty="0">
                <a:solidFill>
                  <a:srgbClr val="3D51E8"/>
                </a:solidFill>
                <a:latin typeface="Heebo Bold" pitchFamily="34" charset="0"/>
                <a:ea typeface="Heebo Bold" pitchFamily="34" charset="-122"/>
                <a:cs typeface="Heebo Bold" pitchFamily="34" charset="-120"/>
              </a:rPr>
              <a:t>VISA-FREE</a:t>
            </a:r>
            <a:endParaRPr lang="en-US" sz="700" dirty="0"/>
          </a:p>
        </p:txBody>
      </p:sp>
      <p:sp>
        <p:nvSpPr>
          <p:cNvPr id="19" name="Text 16"/>
          <p:cNvSpPr/>
          <p:nvPr/>
        </p:nvSpPr>
        <p:spPr>
          <a:xfrm>
            <a:off x="3971239" y="1373919"/>
            <a:ext cx="1205322" cy="283464"/>
          </a:xfrm>
          <a:prstGeom prst="rect">
            <a:avLst/>
          </a:prstGeom>
          <a:noFill/>
          <a:ln/>
        </p:spPr>
        <p:txBody>
          <a:bodyPr wrap="square" lIns="0" tIns="0" rIns="0" bIns="0" rtlCol="0" anchor="t"/>
          <a:lstStyle/>
          <a:p>
            <a:pPr indent="0" marL="0">
              <a:buNone/>
            </a:pPr>
            <a:r>
              <a:rPr lang="en-US" sz="2200" dirty="0">
                <a:solidFill>
                  <a:srgbClr val="FFFFFF"/>
                </a:solidFill>
                <a:latin typeface="Yrsa" pitchFamily="34" charset="0"/>
                <a:ea typeface="Yrsa" pitchFamily="34" charset="-122"/>
                <a:cs typeface="Yrsa" pitchFamily="34" charset="-120"/>
              </a:rPr>
              <a:t>145+</a:t>
            </a:r>
            <a:endParaRPr lang="en-US" sz="2200" dirty="0"/>
          </a:p>
        </p:txBody>
      </p:sp>
      <p:sp>
        <p:nvSpPr>
          <p:cNvPr id="20" name="Text 17"/>
          <p:cNvSpPr/>
          <p:nvPr/>
        </p:nvSpPr>
        <p:spPr>
          <a:xfrm>
            <a:off x="3971239" y="1712247"/>
            <a:ext cx="1205322" cy="162878"/>
          </a:xfrm>
          <a:prstGeom prst="rect">
            <a:avLst/>
          </a:prstGeom>
          <a:noFill/>
          <a:ln/>
        </p:spPr>
        <p:txBody>
          <a:bodyPr wrap="square" lIns="0" tIns="0" rIns="0" bIns="0" rtlCol="0" anchor="t"/>
          <a:lstStyle/>
          <a:p>
            <a:pPr indent="0" marL="0">
              <a:lnSpc>
                <a:spcPct val="135000"/>
              </a:lnSpc>
              <a:buNone/>
            </a:pPr>
            <a:r>
              <a:rPr lang="en-US" sz="950" dirty="0">
                <a:solidFill>
                  <a:srgbClr val="8084AB"/>
                </a:solidFill>
                <a:latin typeface="Heebo Light" pitchFamily="34" charset="0"/>
                <a:ea typeface="Heebo Light" pitchFamily="34" charset="-122"/>
                <a:cs typeface="Heebo Light" pitchFamily="34" charset="-120"/>
              </a:rPr>
              <a:t>Countries</a:t>
            </a:r>
            <a:endParaRPr lang="en-US" sz="950" dirty="0"/>
          </a:p>
        </p:txBody>
      </p:sp>
      <p:sp>
        <p:nvSpPr>
          <p:cNvPr id="21" name="Text 18"/>
          <p:cNvSpPr/>
          <p:nvPr/>
        </p:nvSpPr>
        <p:spPr>
          <a:xfrm>
            <a:off x="5556951" y="1200183"/>
            <a:ext cx="1205322" cy="118872"/>
          </a:xfrm>
          <a:prstGeom prst="rect">
            <a:avLst/>
          </a:prstGeom>
          <a:noFill/>
          <a:ln/>
        </p:spPr>
        <p:txBody>
          <a:bodyPr wrap="square" lIns="0" tIns="0" rIns="0" bIns="0" rtlCol="0" anchor="t"/>
          <a:lstStyle/>
          <a:p>
            <a:pPr indent="0" marL="0">
              <a:buNone/>
            </a:pPr>
            <a:r>
              <a:rPr lang="en-US" sz="700" spc="200" kern="0" dirty="0">
                <a:solidFill>
                  <a:srgbClr val="3D51E8"/>
                </a:solidFill>
                <a:latin typeface="Heebo Bold" pitchFamily="34" charset="0"/>
                <a:ea typeface="Heebo Bold" pitchFamily="34" charset="-122"/>
                <a:cs typeface="Heebo Bold" pitchFamily="34" charset="-120"/>
              </a:rPr>
              <a:t>AVG. PROCESSING</a:t>
            </a:r>
            <a:endParaRPr lang="en-US" sz="700" dirty="0"/>
          </a:p>
        </p:txBody>
      </p:sp>
      <p:sp>
        <p:nvSpPr>
          <p:cNvPr id="22" name="Text 19"/>
          <p:cNvSpPr/>
          <p:nvPr/>
        </p:nvSpPr>
        <p:spPr>
          <a:xfrm>
            <a:off x="5556951" y="1373919"/>
            <a:ext cx="1205322" cy="283464"/>
          </a:xfrm>
          <a:prstGeom prst="rect">
            <a:avLst/>
          </a:prstGeom>
          <a:noFill/>
          <a:ln/>
        </p:spPr>
        <p:txBody>
          <a:bodyPr wrap="square" lIns="0" tIns="0" rIns="0" bIns="0" rtlCol="0" anchor="t"/>
          <a:lstStyle/>
          <a:p>
            <a:pPr indent="0" marL="0">
              <a:buNone/>
            </a:pPr>
            <a:r>
              <a:rPr lang="en-US" sz="2200" dirty="0">
                <a:solidFill>
                  <a:srgbClr val="FFFFFF"/>
                </a:solidFill>
                <a:latin typeface="Yrsa" pitchFamily="34" charset="0"/>
                <a:ea typeface="Yrsa" pitchFamily="34" charset="-122"/>
                <a:cs typeface="Yrsa" pitchFamily="34" charset="-120"/>
              </a:rPr>
              <a:t>6–8 Mo.</a:t>
            </a:r>
            <a:endParaRPr lang="en-US" sz="2200" dirty="0"/>
          </a:p>
        </p:txBody>
      </p:sp>
      <p:sp>
        <p:nvSpPr>
          <p:cNvPr id="23" name="Text 20"/>
          <p:cNvSpPr/>
          <p:nvPr/>
        </p:nvSpPr>
        <p:spPr>
          <a:xfrm>
            <a:off x="5556951" y="1712247"/>
            <a:ext cx="1205322" cy="162878"/>
          </a:xfrm>
          <a:prstGeom prst="rect">
            <a:avLst/>
          </a:prstGeom>
          <a:noFill/>
          <a:ln/>
        </p:spPr>
        <p:txBody>
          <a:bodyPr wrap="square" lIns="0" tIns="0" rIns="0" bIns="0" rtlCol="0" anchor="t"/>
          <a:lstStyle/>
          <a:p>
            <a:pPr indent="0" marL="0">
              <a:lnSpc>
                <a:spcPct val="135000"/>
              </a:lnSpc>
              <a:buNone/>
            </a:pPr>
            <a:endParaRPr lang="en-US" sz="950" dirty="0"/>
          </a:p>
        </p:txBody>
      </p:sp>
      <p:sp>
        <p:nvSpPr>
          <p:cNvPr id="24" name="Text 21"/>
          <p:cNvSpPr/>
          <p:nvPr/>
        </p:nvSpPr>
        <p:spPr>
          <a:xfrm>
            <a:off x="609620" y="2347869"/>
            <a:ext cx="6342849" cy="489966"/>
          </a:xfrm>
          <a:prstGeom prst="rect">
            <a:avLst/>
          </a:prstGeom>
          <a:noFill/>
          <a:ln/>
        </p:spPr>
        <p:txBody>
          <a:bodyPr wrap="square" lIns="0" tIns="0" rIns="0" bIns="0" rtlCol="0" anchor="t"/>
          <a:lstStyle/>
          <a:p>
            <a:pPr indent="0" marL="0">
              <a:buNone/>
            </a:pPr>
            <a:r>
              <a:rPr lang="en-US" sz="3300" dirty="0">
                <a:solidFill>
                  <a:srgbClr val="16182A"/>
                </a:solidFill>
                <a:latin typeface="Yrsa" pitchFamily="34" charset="0"/>
                <a:ea typeface="Yrsa" pitchFamily="34" charset="-122"/>
                <a:cs typeface="Yrsa" pitchFamily="34" charset="-120"/>
              </a:rPr>
              <a:t>Programme Notes</a:t>
            </a:r>
            <a:endParaRPr lang="en-US" sz="3300" dirty="0"/>
          </a:p>
        </p:txBody>
      </p:sp>
      <p:sp>
        <p:nvSpPr>
          <p:cNvPr id="25" name="Text 22"/>
          <p:cNvSpPr/>
          <p:nvPr/>
        </p:nvSpPr>
        <p:spPr>
          <a:xfrm>
            <a:off x="609620" y="3103011"/>
            <a:ext cx="6342849" cy="792956"/>
          </a:xfrm>
          <a:prstGeom prst="rect">
            <a:avLst/>
          </a:prstGeom>
          <a:noFill/>
          <a:ln/>
        </p:spPr>
        <p:txBody>
          <a:bodyPr wrap="square" lIns="0" tIns="0" rIns="0" bIns="0" rtlCol="0" anchor="t"/>
          <a:lstStyle/>
          <a:p>
            <a:pPr indent="0" marL="0">
              <a:lnSpc>
                <a:spcPct val="185000"/>
              </a:lnSpc>
              <a:buNone/>
            </a:pPr>
            <a:r>
              <a:rPr lang="en-US" sz="1125" dirty="0">
                <a:solidFill>
                  <a:srgbClr val="4B4E65"/>
                </a:solidFill>
                <a:latin typeface="Heebo Light" pitchFamily="34" charset="0"/>
                <a:ea typeface="Heebo Light" pitchFamily="34" charset="-122"/>
                <a:cs typeface="Heebo Light" pitchFamily="34" charset="-120"/>
              </a:rPr>
              <a:t>Launched in August 2013 under the Citizenship by Investment Act No. 15, Grenada's programme is administered by the Investment Migration Agency (IMA), rebranded from the CBI Unit in 2024. It offers a well-regulated path to second citizenship.</a:t>
            </a:r>
            <a:endParaRPr lang="en-US" sz="1125" dirty="0"/>
          </a:p>
        </p:txBody>
      </p:sp>
      <p:sp>
        <p:nvSpPr>
          <p:cNvPr id="26" name="Text 23"/>
          <p:cNvSpPr/>
          <p:nvPr/>
        </p:nvSpPr>
        <p:spPr>
          <a:xfrm>
            <a:off x="609620" y="4106279"/>
            <a:ext cx="6342849" cy="792956"/>
          </a:xfrm>
          <a:prstGeom prst="rect">
            <a:avLst/>
          </a:prstGeom>
          <a:noFill/>
          <a:ln/>
        </p:spPr>
        <p:txBody>
          <a:bodyPr wrap="square" lIns="0" tIns="0" rIns="0" bIns="0" rtlCol="0" anchor="t"/>
          <a:lstStyle/>
          <a:p>
            <a:pPr indent="0" marL="0">
              <a:lnSpc>
                <a:spcPct val="185000"/>
              </a:lnSpc>
              <a:buNone/>
            </a:pPr>
            <a:r>
              <a:rPr lang="en-US" sz="1125" dirty="0">
                <a:solidFill>
                  <a:srgbClr val="4B4E65"/>
                </a:solidFill>
                <a:latin typeface="Heebo Light" pitchFamily="34" charset="0"/>
                <a:ea typeface="Heebo Light" pitchFamily="34" charset="-122"/>
                <a:cs typeface="Heebo Light" pitchFamily="34" charset="-120"/>
              </a:rPr>
              <a:t>Grenada is the only Caribbean nation with a US E-2 Treaty Investor Visa agreement (since 1989), making it uniquely attractive for investors seeking US market access. E-2 eligibility applies regardless of investment route chosen.</a:t>
            </a:r>
            <a:endParaRPr lang="en-US" sz="1125" dirty="0"/>
          </a:p>
        </p:txBody>
      </p:sp>
      <p:sp>
        <p:nvSpPr>
          <p:cNvPr id="27" name="Text 24"/>
          <p:cNvSpPr/>
          <p:nvPr/>
        </p:nvSpPr>
        <p:spPr>
          <a:xfrm>
            <a:off x="609620" y="5109548"/>
            <a:ext cx="6342849" cy="792956"/>
          </a:xfrm>
          <a:prstGeom prst="rect">
            <a:avLst/>
          </a:prstGeom>
          <a:noFill/>
          <a:ln/>
        </p:spPr>
        <p:txBody>
          <a:bodyPr wrap="square" lIns="0" tIns="0" rIns="0" bIns="0" rtlCol="0" anchor="t"/>
          <a:lstStyle/>
          <a:p>
            <a:pPr indent="0" marL="0">
              <a:lnSpc>
                <a:spcPct val="185000"/>
              </a:lnSpc>
              <a:buNone/>
            </a:pPr>
            <a:r>
              <a:rPr lang="en-US" sz="1125" dirty="0">
                <a:solidFill>
                  <a:srgbClr val="4B4E65"/>
                </a:solidFill>
                <a:latin typeface="Heebo Light" pitchFamily="34" charset="0"/>
                <a:ea typeface="Heebo Light" pitchFamily="34" charset="-122"/>
                <a:cs typeface="Heebo Light" pitchFamily="34" charset="-120"/>
              </a:rPr>
              <a:t>All applicants aged 17+ must complete a mandatory due diligence interview (available online). Background checks are conducted by independent international firms. Passports are valid for 10 years (adults) and 5 years (minors).</a:t>
            </a:r>
            <a:endParaRPr lang="en-US" sz="1125" dirty="0"/>
          </a:p>
        </p:txBody>
      </p:sp>
      <p:sp>
        <p:nvSpPr>
          <p:cNvPr id="28" name="Text 25"/>
          <p:cNvSpPr/>
          <p:nvPr/>
        </p:nvSpPr>
        <p:spPr>
          <a:xfrm>
            <a:off x="609620" y="6112816"/>
            <a:ext cx="6342849" cy="133502"/>
          </a:xfrm>
          <a:prstGeom prst="rect">
            <a:avLst/>
          </a:prstGeom>
          <a:noFill/>
          <a:ln/>
        </p:spPr>
        <p:txBody>
          <a:bodyPr wrap="square" lIns="0" tIns="0" rIns="0" bIns="0" rtlCol="0" anchor="t"/>
          <a:lstStyle/>
          <a:p>
            <a:pPr indent="0" marL="0">
              <a:buNone/>
            </a:pPr>
            <a:r>
              <a:rPr lang="en-US" sz="1050" dirty="0">
                <a:solidFill>
                  <a:srgbClr val="3D51E8"/>
                </a:solidFill>
                <a:latin typeface="Heebo SemiBold" pitchFamily="34" charset="0"/>
                <a:ea typeface="Heebo SemiBold" pitchFamily="34" charset="-122"/>
                <a:cs typeface="Heebo SemiBold" pitchFamily="34" charset="-120"/>
              </a:rPr>
              <a:t>2025/26 Reforms</a:t>
            </a:r>
            <a:endParaRPr lang="en-US" sz="1050" dirty="0"/>
          </a:p>
        </p:txBody>
      </p:sp>
      <p:sp>
        <p:nvSpPr>
          <p:cNvPr id="29" name="Text 26"/>
          <p:cNvSpPr/>
          <p:nvPr/>
        </p:nvSpPr>
        <p:spPr>
          <a:xfrm>
            <a:off x="609620" y="6337758"/>
            <a:ext cx="6342849" cy="634365"/>
          </a:xfrm>
          <a:prstGeom prst="rect">
            <a:avLst/>
          </a:prstGeom>
          <a:noFill/>
          <a:ln/>
        </p:spPr>
        <p:txBody>
          <a:bodyPr wrap="square" lIns="0" tIns="0" rIns="0" bIns="0" rtlCol="0" anchor="t"/>
          <a:lstStyle/>
          <a:p>
            <a:pPr indent="0" marL="0">
              <a:lnSpc>
                <a:spcPct val="185000"/>
              </a:lnSpc>
              <a:buNone/>
            </a:pPr>
            <a:r>
              <a:rPr lang="en-US" sz="1125" dirty="0">
                <a:solidFill>
                  <a:srgbClr val="4B4E65"/>
                </a:solidFill>
                <a:latin typeface="Heebo Light" pitchFamily="34" charset="0"/>
                <a:ea typeface="Heebo Light" pitchFamily="34" charset="-122"/>
                <a:cs typeface="Heebo Light" pitchFamily="34" charset="-120"/>
              </a:rPr>
              <a:t>New CBI legislation expected in 2026. Eastern Caribbean CBI Regulatory Authority being established. Residency requirement under regional review.</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620" y="0"/>
            <a:ext cx="3805709" cy="533417"/>
          </a:xfrm>
          <a:prstGeom prst="rect">
            <a:avLst/>
          </a:prstGeom>
          <a:noFill/>
          <a:ln/>
        </p:spPr>
        <p:txBody>
          <a:bodyPr wrap="square" lIns="0" tIns="0" rIns="0" bIns="0" rtlCol="0" anchor="ctr"/>
          <a:lstStyle/>
          <a:p>
            <a:pPr indent="0" marL="0">
              <a:buNone/>
            </a:pPr>
            <a:r>
              <a:rPr lang="en-US" sz="750" spc="320" kern="0" dirty="0">
                <a:solidFill>
                  <a:srgbClr val="9B9CAD"/>
                </a:solidFill>
                <a:latin typeface="Heebo Medium" pitchFamily="34" charset="0"/>
                <a:ea typeface="Heebo Medium" pitchFamily="34" charset="-122"/>
                <a:cs typeface="Heebo Medium" pitchFamily="34" charset="-120"/>
              </a:rPr>
              <a:t>GRENADA · CITIZENSHIP BY INVESTMENT</a:t>
            </a:r>
            <a:endParaRPr lang="en-US" sz="750" dirty="0"/>
          </a:p>
        </p:txBody>
      </p:sp>
      <p:pic>
        <p:nvPicPr>
          <p:cNvPr id="3" name="Image 0" descr="/Users/victortorres/Library/Application Support/Claude/local-agent-mode-sessions/skills-plugin/d3e5681c-1000-4051-bb23-bb4f6aee7624/c3107115-7538-4e27-8275-14cfa1f9e1e7/skills/design-brochure-builder/assets/logos/GCS-Secondary-Blue.png">    </p:cNvPr>
          <p:cNvPicPr>
            <a:picLocks noChangeAspect="1"/>
          </p:cNvPicPr>
          <p:nvPr/>
        </p:nvPicPr>
        <p:blipFill>
          <a:blip r:embed="rId1"/>
          <a:stretch>
            <a:fillRect/>
          </a:stretch>
        </p:blipFill>
        <p:spPr>
          <a:xfrm>
            <a:off x="5282344" y="214131"/>
            <a:ext cx="1670125" cy="105156"/>
          </a:xfrm>
          <a:prstGeom prst="rect">
            <a:avLst/>
          </a:prstGeom>
        </p:spPr>
      </p:pic>
      <p:sp>
        <p:nvSpPr>
          <p:cNvPr id="4" name="Shape 1"/>
          <p:cNvSpPr/>
          <p:nvPr/>
        </p:nvSpPr>
        <p:spPr>
          <a:xfrm>
            <a:off x="609620" y="533417"/>
            <a:ext cx="6342849" cy="0"/>
          </a:xfrm>
          <a:prstGeom prst="line">
            <a:avLst/>
          </a:prstGeom>
          <a:noFill/>
          <a:ln w="9525">
            <a:solidFill>
              <a:srgbClr val="E0E2EA"/>
            </a:solidFill>
            <a:prstDash val="solid"/>
          </a:ln>
        </p:spPr>
      </p:sp>
      <p:sp>
        <p:nvSpPr>
          <p:cNvPr id="5" name="Shape 2"/>
          <p:cNvSpPr/>
          <p:nvPr/>
        </p:nvSpPr>
        <p:spPr>
          <a:xfrm>
            <a:off x="609620" y="10270223"/>
            <a:ext cx="6342849" cy="0"/>
          </a:xfrm>
          <a:prstGeom prst="line">
            <a:avLst/>
          </a:prstGeom>
          <a:noFill/>
          <a:ln w="9525">
            <a:solidFill>
              <a:srgbClr val="E0E2EA"/>
            </a:solidFill>
            <a:prstDash val="solid"/>
          </a:ln>
        </p:spPr>
      </p:sp>
      <p:sp>
        <p:nvSpPr>
          <p:cNvPr id="6" name="Text 3"/>
          <p:cNvSpPr/>
          <p:nvPr/>
        </p:nvSpPr>
        <p:spPr>
          <a:xfrm>
            <a:off x="609620" y="10388339"/>
            <a:ext cx="4439994" cy="182880"/>
          </a:xfrm>
          <a:prstGeom prst="rect">
            <a:avLst/>
          </a:prstGeom>
          <a:noFill/>
          <a:ln/>
        </p:spPr>
        <p:txBody>
          <a:bodyPr wrap="square" lIns="0" tIns="0" rIns="0" bIns="0" rtlCol="0" anchor="ctr"/>
          <a:lstStyle/>
          <a:p>
            <a:pPr indent="0" marL="0">
              <a:buNone/>
            </a:pPr>
            <a:r>
              <a:rPr lang="en-US" sz="825" dirty="0">
                <a:solidFill>
                  <a:srgbClr val="C6C8D5"/>
                </a:solidFill>
                <a:latin typeface="Heebo" pitchFamily="34" charset="0"/>
                <a:ea typeface="Heebo" pitchFamily="34" charset="-122"/>
                <a:cs typeface="Heebo" pitchFamily="34" charset="-120"/>
              </a:rPr>
              <a:t>© 2026 Global Citizen Solutions — Confidential</a:t>
            </a:r>
            <a:endParaRPr lang="en-US" sz="825" dirty="0"/>
          </a:p>
        </p:txBody>
      </p:sp>
      <p:sp>
        <p:nvSpPr>
          <p:cNvPr id="7" name="Text 4"/>
          <p:cNvSpPr/>
          <p:nvPr/>
        </p:nvSpPr>
        <p:spPr>
          <a:xfrm>
            <a:off x="5049614" y="10388339"/>
            <a:ext cx="1902855" cy="182880"/>
          </a:xfrm>
          <a:prstGeom prst="rect">
            <a:avLst/>
          </a:prstGeom>
          <a:noFill/>
          <a:ln/>
        </p:spPr>
        <p:txBody>
          <a:bodyPr wrap="square" lIns="0" tIns="0" rIns="0" bIns="0" rtlCol="0" anchor="ctr"/>
          <a:lstStyle/>
          <a:p>
            <a:pPr algn="r" indent="0" marL="0">
              <a:buNone/>
            </a:pPr>
            <a:r>
              <a:rPr lang="en-US" sz="825" spc="150" kern="0" dirty="0">
                <a:solidFill>
                  <a:srgbClr val="C6C8D5"/>
                </a:solidFill>
                <a:latin typeface="Heebo" pitchFamily="34" charset="0"/>
                <a:ea typeface="Heebo" pitchFamily="34" charset="-122"/>
                <a:cs typeface="Heebo" pitchFamily="34" charset="-120"/>
              </a:rPr>
              <a:t>03</a:t>
            </a:r>
            <a:endParaRPr lang="en-US" sz="825" dirty="0"/>
          </a:p>
        </p:txBody>
      </p:sp>
      <p:sp>
        <p:nvSpPr>
          <p:cNvPr id="8" name="Shape 5"/>
          <p:cNvSpPr/>
          <p:nvPr/>
        </p:nvSpPr>
        <p:spPr>
          <a:xfrm>
            <a:off x="609620" y="1028733"/>
            <a:ext cx="6342849" cy="3694176"/>
          </a:xfrm>
          <a:prstGeom prst="rect">
            <a:avLst/>
          </a:prstGeom>
          <a:solidFill>
            <a:srgbClr val="F7F8FD"/>
          </a:solidFill>
          <a:ln w="9525">
            <a:solidFill>
              <a:srgbClr val="E0E2EA"/>
            </a:solidFill>
            <a:prstDash val="solid"/>
          </a:ln>
        </p:spPr>
      </p:sp>
      <p:sp>
        <p:nvSpPr>
          <p:cNvPr id="9" name="Text 6"/>
          <p:cNvSpPr/>
          <p:nvPr/>
        </p:nvSpPr>
        <p:spPr>
          <a:xfrm>
            <a:off x="762324" y="1220757"/>
            <a:ext cx="6037439" cy="128016"/>
          </a:xfrm>
          <a:prstGeom prst="rect">
            <a:avLst/>
          </a:prstGeom>
          <a:noFill/>
          <a:ln/>
        </p:spPr>
        <p:txBody>
          <a:bodyPr wrap="square" lIns="0" tIns="0" rIns="0" bIns="0" rtlCol="0" anchor="t"/>
          <a:lstStyle/>
          <a:p>
            <a:pPr indent="0" marL="0">
              <a:buNone/>
            </a:pPr>
            <a:r>
              <a:rPr lang="en-US" sz="900" spc="200" kern="0" dirty="0">
                <a:solidFill>
                  <a:srgbClr val="000957"/>
                </a:solidFill>
                <a:latin typeface="Heebo Bold" pitchFamily="34" charset="0"/>
                <a:ea typeface="Heebo Bold" pitchFamily="34" charset="-122"/>
                <a:cs typeface="Heebo Bold" pitchFamily="34" charset="-120"/>
              </a:rPr>
              <a:t>INVESTMENT OPTIONS</a:t>
            </a:r>
            <a:endParaRPr lang="en-US" sz="900" dirty="0"/>
          </a:p>
        </p:txBody>
      </p:sp>
      <p:sp>
        <p:nvSpPr>
          <p:cNvPr id="10" name="Shape 7"/>
          <p:cNvSpPr/>
          <p:nvPr/>
        </p:nvSpPr>
        <p:spPr>
          <a:xfrm>
            <a:off x="762324" y="1440213"/>
            <a:ext cx="6037439" cy="0"/>
          </a:xfrm>
          <a:prstGeom prst="line">
            <a:avLst/>
          </a:prstGeom>
          <a:noFill/>
          <a:ln w="12700">
            <a:solidFill>
              <a:srgbClr val="E0E2EA"/>
            </a:solidFill>
            <a:prstDash val="solid"/>
          </a:ln>
        </p:spPr>
      </p:sp>
      <p:sp>
        <p:nvSpPr>
          <p:cNvPr id="11" name="Text 8"/>
          <p:cNvSpPr/>
          <p:nvPr/>
        </p:nvSpPr>
        <p:spPr>
          <a:xfrm>
            <a:off x="762324" y="1516108"/>
            <a:ext cx="4449101" cy="270662"/>
          </a:xfrm>
          <a:prstGeom prst="rect">
            <a:avLst/>
          </a:prstGeom>
          <a:noFill/>
          <a:ln/>
        </p:spPr>
        <p:txBody>
          <a:bodyPr wrap="square" lIns="0" tIns="0" rIns="0" bIns="0" rtlCol="0" anchor="t"/>
          <a:lstStyle/>
          <a:p>
            <a:pPr indent="0" marL="0">
              <a:buNone/>
            </a:pPr>
            <a:r>
              <a:rPr lang="en-US" sz="1200" dirty="0">
                <a:solidFill>
                  <a:srgbClr val="16182A"/>
                </a:solidFill>
                <a:latin typeface="Heebo Medium" pitchFamily="34" charset="0"/>
                <a:ea typeface="Heebo Medium" pitchFamily="34" charset="-122"/>
                <a:cs typeface="Heebo Medium" pitchFamily="34" charset="-120"/>
              </a:rPr>
              <a:t>National Transformation Fund (NTF)</a:t>
            </a:r>
            <a:endParaRPr lang="en-US" sz="1200" dirty="0"/>
          </a:p>
        </p:txBody>
      </p:sp>
      <p:sp>
        <p:nvSpPr>
          <p:cNvPr id="12" name="Text 9"/>
          <p:cNvSpPr/>
          <p:nvPr/>
        </p:nvSpPr>
        <p:spPr>
          <a:xfrm>
            <a:off x="762324" y="1786771"/>
            <a:ext cx="4449101" cy="444398"/>
          </a:xfrm>
          <a:prstGeom prst="rect">
            <a:avLst/>
          </a:prstGeom>
          <a:noFill/>
          <a:ln/>
        </p:spPr>
        <p:txBody>
          <a:bodyPr wrap="square" lIns="0" tIns="0" rIns="0" bIns="0" rtlCol="0" anchor="t"/>
          <a:lstStyle/>
          <a:p>
            <a:pPr indent="0" marL="0">
              <a:lnSpc>
                <a:spcPct val="135000"/>
              </a:lnSpc>
              <a:buNone/>
            </a:pPr>
            <a:r>
              <a:rPr lang="en-US" sz="1000" dirty="0">
                <a:solidFill>
                  <a:srgbClr val="6F7185"/>
                </a:solidFill>
                <a:latin typeface="Heebo Light" pitchFamily="34" charset="0"/>
                <a:ea typeface="Heebo Light" pitchFamily="34" charset="-122"/>
                <a:cs typeface="Heebo Light" pitchFamily="34" charset="-120"/>
              </a:rPr>
              <a:t>Non-refundable donation to national development. Covers single applicant or family of up to four.</a:t>
            </a:r>
            <a:endParaRPr lang="en-US" sz="1000" dirty="0"/>
          </a:p>
        </p:txBody>
      </p:sp>
      <p:sp>
        <p:nvSpPr>
          <p:cNvPr id="13" name="Text 10"/>
          <p:cNvSpPr/>
          <p:nvPr/>
        </p:nvSpPr>
        <p:spPr>
          <a:xfrm>
            <a:off x="5287321" y="1516108"/>
            <a:ext cx="1512443" cy="164592"/>
          </a:xfrm>
          <a:prstGeom prst="rect">
            <a:avLst/>
          </a:prstGeom>
          <a:noFill/>
          <a:ln/>
        </p:spPr>
        <p:txBody>
          <a:bodyPr wrap="none" lIns="0" tIns="0" rIns="0" bIns="0" rtlCol="0" anchor="t"/>
          <a:lstStyle/>
          <a:p>
            <a:pPr algn="r" indent="0" marL="0">
              <a:buNone/>
            </a:pPr>
            <a:r>
              <a:rPr lang="en-US" sz="1300" dirty="0">
                <a:solidFill>
                  <a:srgbClr val="000957"/>
                </a:solidFill>
                <a:latin typeface="Heebo Bold" pitchFamily="34" charset="0"/>
                <a:ea typeface="Heebo Bold" pitchFamily="34" charset="-122"/>
                <a:cs typeface="Heebo Bold" pitchFamily="34" charset="-120"/>
              </a:rPr>
              <a:t>From USD 235,000</a:t>
            </a:r>
            <a:endParaRPr lang="en-US" sz="1300" dirty="0"/>
          </a:p>
        </p:txBody>
      </p:sp>
      <p:sp>
        <p:nvSpPr>
          <p:cNvPr id="14" name="Shape 11"/>
          <p:cNvSpPr/>
          <p:nvPr/>
        </p:nvSpPr>
        <p:spPr>
          <a:xfrm>
            <a:off x="762324" y="2231169"/>
            <a:ext cx="6037439" cy="0"/>
          </a:xfrm>
          <a:prstGeom prst="line">
            <a:avLst/>
          </a:prstGeom>
          <a:noFill/>
          <a:ln w="12700">
            <a:solidFill>
              <a:srgbClr val="E0E2EA"/>
            </a:solidFill>
            <a:prstDash val="solid"/>
          </a:ln>
        </p:spPr>
      </p:sp>
      <p:sp>
        <p:nvSpPr>
          <p:cNvPr id="15" name="Text 12"/>
          <p:cNvSpPr/>
          <p:nvPr/>
        </p:nvSpPr>
        <p:spPr>
          <a:xfrm>
            <a:off x="762324" y="2307064"/>
            <a:ext cx="4449101" cy="270662"/>
          </a:xfrm>
          <a:prstGeom prst="rect">
            <a:avLst/>
          </a:prstGeom>
          <a:noFill/>
          <a:ln/>
        </p:spPr>
        <p:txBody>
          <a:bodyPr wrap="square" lIns="0" tIns="0" rIns="0" bIns="0" rtlCol="0" anchor="t"/>
          <a:lstStyle/>
          <a:p>
            <a:pPr indent="0" marL="0">
              <a:buNone/>
            </a:pPr>
            <a:r>
              <a:rPr lang="en-US" sz="1200" dirty="0">
                <a:solidFill>
                  <a:srgbClr val="16182A"/>
                </a:solidFill>
                <a:latin typeface="Heebo Medium" pitchFamily="34" charset="0"/>
                <a:ea typeface="Heebo Medium" pitchFamily="34" charset="-122"/>
                <a:cs typeface="Heebo Medium" pitchFamily="34" charset="-120"/>
              </a:rPr>
              <a:t>Approved Real Estate</a:t>
            </a:r>
            <a:endParaRPr lang="en-US" sz="1200" dirty="0"/>
          </a:p>
        </p:txBody>
      </p:sp>
      <p:sp>
        <p:nvSpPr>
          <p:cNvPr id="16" name="Text 13"/>
          <p:cNvSpPr/>
          <p:nvPr/>
        </p:nvSpPr>
        <p:spPr>
          <a:xfrm>
            <a:off x="762324" y="2577727"/>
            <a:ext cx="4449101" cy="444398"/>
          </a:xfrm>
          <a:prstGeom prst="rect">
            <a:avLst/>
          </a:prstGeom>
          <a:noFill/>
          <a:ln/>
        </p:spPr>
        <p:txBody>
          <a:bodyPr wrap="square" lIns="0" tIns="0" rIns="0" bIns="0" rtlCol="0" anchor="t"/>
          <a:lstStyle/>
          <a:p>
            <a:pPr indent="0" marL="0">
              <a:lnSpc>
                <a:spcPct val="135000"/>
              </a:lnSpc>
              <a:buNone/>
            </a:pPr>
            <a:r>
              <a:rPr lang="en-US" sz="1000" dirty="0">
                <a:solidFill>
                  <a:srgbClr val="6F7185"/>
                </a:solidFill>
                <a:latin typeface="Heebo Light" pitchFamily="34" charset="0"/>
                <a:ea typeface="Heebo Light" pitchFamily="34" charset="-122"/>
                <a:cs typeface="Heebo Light" pitchFamily="34" charset="-120"/>
              </a:rPr>
              <a:t>Government-approved luxury hotels, resorts &amp; villas. 5-year hold. Additional USD 50K NTF contribution required.</a:t>
            </a:r>
            <a:endParaRPr lang="en-US" sz="1000" dirty="0"/>
          </a:p>
        </p:txBody>
      </p:sp>
      <p:sp>
        <p:nvSpPr>
          <p:cNvPr id="17" name="Text 14"/>
          <p:cNvSpPr/>
          <p:nvPr/>
        </p:nvSpPr>
        <p:spPr>
          <a:xfrm>
            <a:off x="5287321" y="2307064"/>
            <a:ext cx="1512443" cy="164592"/>
          </a:xfrm>
          <a:prstGeom prst="rect">
            <a:avLst/>
          </a:prstGeom>
          <a:noFill/>
          <a:ln/>
        </p:spPr>
        <p:txBody>
          <a:bodyPr wrap="none" lIns="0" tIns="0" rIns="0" bIns="0" rtlCol="0" anchor="t"/>
          <a:lstStyle/>
          <a:p>
            <a:pPr algn="r" indent="0" marL="0">
              <a:buNone/>
            </a:pPr>
            <a:r>
              <a:rPr lang="en-US" sz="1300" dirty="0">
                <a:solidFill>
                  <a:srgbClr val="000957"/>
                </a:solidFill>
                <a:latin typeface="Heebo Bold" pitchFamily="34" charset="0"/>
                <a:ea typeface="Heebo Bold" pitchFamily="34" charset="-122"/>
                <a:cs typeface="Heebo Bold" pitchFamily="34" charset="-120"/>
              </a:rPr>
              <a:t>From USD 270,000</a:t>
            </a:r>
            <a:endParaRPr lang="en-US" sz="1300" dirty="0"/>
          </a:p>
        </p:txBody>
      </p:sp>
      <p:sp>
        <p:nvSpPr>
          <p:cNvPr id="18" name="Shape 15"/>
          <p:cNvSpPr/>
          <p:nvPr/>
        </p:nvSpPr>
        <p:spPr>
          <a:xfrm>
            <a:off x="762324" y="3022125"/>
            <a:ext cx="6037439" cy="0"/>
          </a:xfrm>
          <a:prstGeom prst="line">
            <a:avLst/>
          </a:prstGeom>
          <a:noFill/>
          <a:ln w="12700">
            <a:solidFill>
              <a:srgbClr val="E0E2EA"/>
            </a:solidFill>
            <a:prstDash val="solid"/>
          </a:ln>
        </p:spPr>
      </p:sp>
      <p:sp>
        <p:nvSpPr>
          <p:cNvPr id="19" name="Text 16"/>
          <p:cNvSpPr/>
          <p:nvPr/>
        </p:nvSpPr>
        <p:spPr>
          <a:xfrm>
            <a:off x="762324" y="3098020"/>
            <a:ext cx="4449101" cy="270662"/>
          </a:xfrm>
          <a:prstGeom prst="rect">
            <a:avLst/>
          </a:prstGeom>
          <a:noFill/>
          <a:ln/>
        </p:spPr>
        <p:txBody>
          <a:bodyPr wrap="square" lIns="0" tIns="0" rIns="0" bIns="0" rtlCol="0" anchor="t"/>
          <a:lstStyle/>
          <a:p>
            <a:pPr indent="0" marL="0">
              <a:buNone/>
            </a:pPr>
            <a:r>
              <a:rPr lang="en-US" sz="1200" dirty="0">
                <a:solidFill>
                  <a:srgbClr val="16182A"/>
                </a:solidFill>
                <a:latin typeface="Heebo Medium" pitchFamily="34" charset="0"/>
                <a:ea typeface="Heebo Medium" pitchFamily="34" charset="-122"/>
                <a:cs typeface="Heebo Medium" pitchFamily="34" charset="-120"/>
              </a:rPr>
              <a:t>Single-Family Real Estate</a:t>
            </a:r>
            <a:endParaRPr lang="en-US" sz="1200" dirty="0"/>
          </a:p>
        </p:txBody>
      </p:sp>
      <p:sp>
        <p:nvSpPr>
          <p:cNvPr id="20" name="Text 17"/>
          <p:cNvSpPr/>
          <p:nvPr/>
        </p:nvSpPr>
        <p:spPr>
          <a:xfrm>
            <a:off x="762324" y="3368683"/>
            <a:ext cx="4449101" cy="444398"/>
          </a:xfrm>
          <a:prstGeom prst="rect">
            <a:avLst/>
          </a:prstGeom>
          <a:noFill/>
          <a:ln/>
        </p:spPr>
        <p:txBody>
          <a:bodyPr wrap="square" lIns="0" tIns="0" rIns="0" bIns="0" rtlCol="0" anchor="t"/>
          <a:lstStyle/>
          <a:p>
            <a:pPr indent="0" marL="0">
              <a:lnSpc>
                <a:spcPct val="135000"/>
              </a:lnSpc>
              <a:buNone/>
            </a:pPr>
            <a:r>
              <a:rPr lang="en-US" sz="1000" dirty="0">
                <a:solidFill>
                  <a:srgbClr val="6F7185"/>
                </a:solidFill>
                <a:latin typeface="Heebo Light" pitchFamily="34" charset="0"/>
                <a:ea typeface="Heebo Light" pitchFamily="34" charset="-122"/>
                <a:cs typeface="Heebo Light" pitchFamily="34" charset="-120"/>
              </a:rPr>
              <a:t>Standalone residential properties in approved developments. 5-year hold with potential rental returns (~4% p.a.).</a:t>
            </a:r>
            <a:endParaRPr lang="en-US" sz="1000" dirty="0"/>
          </a:p>
        </p:txBody>
      </p:sp>
      <p:sp>
        <p:nvSpPr>
          <p:cNvPr id="21" name="Text 18"/>
          <p:cNvSpPr/>
          <p:nvPr/>
        </p:nvSpPr>
        <p:spPr>
          <a:xfrm>
            <a:off x="5287321" y="3098020"/>
            <a:ext cx="1512443" cy="164592"/>
          </a:xfrm>
          <a:prstGeom prst="rect">
            <a:avLst/>
          </a:prstGeom>
          <a:noFill/>
          <a:ln/>
        </p:spPr>
        <p:txBody>
          <a:bodyPr wrap="none" lIns="0" tIns="0" rIns="0" bIns="0" rtlCol="0" anchor="t"/>
          <a:lstStyle/>
          <a:p>
            <a:pPr algn="r" indent="0" marL="0">
              <a:buNone/>
            </a:pPr>
            <a:r>
              <a:rPr lang="en-US" sz="1300" dirty="0">
                <a:solidFill>
                  <a:srgbClr val="000957"/>
                </a:solidFill>
                <a:latin typeface="Heebo Bold" pitchFamily="34" charset="0"/>
                <a:ea typeface="Heebo Bold" pitchFamily="34" charset="-122"/>
                <a:cs typeface="Heebo Bold" pitchFamily="34" charset="-120"/>
              </a:rPr>
              <a:t>Higher thresholds</a:t>
            </a:r>
            <a:endParaRPr lang="en-US" sz="1300" dirty="0"/>
          </a:p>
        </p:txBody>
      </p:sp>
      <p:sp>
        <p:nvSpPr>
          <p:cNvPr id="22" name="Shape 19"/>
          <p:cNvSpPr/>
          <p:nvPr/>
        </p:nvSpPr>
        <p:spPr>
          <a:xfrm>
            <a:off x="762324" y="3813081"/>
            <a:ext cx="6037439" cy="0"/>
          </a:xfrm>
          <a:prstGeom prst="line">
            <a:avLst/>
          </a:prstGeom>
          <a:noFill/>
          <a:ln w="12700">
            <a:solidFill>
              <a:srgbClr val="E0E2EA"/>
            </a:solidFill>
            <a:prstDash val="solid"/>
          </a:ln>
        </p:spPr>
      </p:sp>
      <p:sp>
        <p:nvSpPr>
          <p:cNvPr id="23" name="Text 20"/>
          <p:cNvSpPr/>
          <p:nvPr/>
        </p:nvSpPr>
        <p:spPr>
          <a:xfrm>
            <a:off x="762324" y="3888976"/>
            <a:ext cx="4449101" cy="270662"/>
          </a:xfrm>
          <a:prstGeom prst="rect">
            <a:avLst/>
          </a:prstGeom>
          <a:noFill/>
          <a:ln/>
        </p:spPr>
        <p:txBody>
          <a:bodyPr wrap="square" lIns="0" tIns="0" rIns="0" bIns="0" rtlCol="0" anchor="t"/>
          <a:lstStyle/>
          <a:p>
            <a:pPr indent="0" marL="0">
              <a:buNone/>
            </a:pPr>
            <a:r>
              <a:rPr lang="en-US" sz="1200" dirty="0">
                <a:solidFill>
                  <a:srgbClr val="16182A"/>
                </a:solidFill>
                <a:latin typeface="Heebo Medium" pitchFamily="34" charset="0"/>
                <a:ea typeface="Heebo Medium" pitchFamily="34" charset="-122"/>
                <a:cs typeface="Heebo Medium" pitchFamily="34" charset="-120"/>
              </a:rPr>
              <a:t>Section 11A Business Investment</a:t>
            </a:r>
            <a:endParaRPr lang="en-US" sz="1200" dirty="0"/>
          </a:p>
        </p:txBody>
      </p:sp>
      <p:sp>
        <p:nvSpPr>
          <p:cNvPr id="24" name="Text 21"/>
          <p:cNvSpPr/>
          <p:nvPr/>
        </p:nvSpPr>
        <p:spPr>
          <a:xfrm>
            <a:off x="762324" y="4159639"/>
            <a:ext cx="4449101" cy="444398"/>
          </a:xfrm>
          <a:prstGeom prst="rect">
            <a:avLst/>
          </a:prstGeom>
          <a:noFill/>
          <a:ln/>
        </p:spPr>
        <p:txBody>
          <a:bodyPr wrap="square" lIns="0" tIns="0" rIns="0" bIns="0" rtlCol="0" anchor="t"/>
          <a:lstStyle/>
          <a:p>
            <a:pPr indent="0" marL="0">
              <a:lnSpc>
                <a:spcPct val="135000"/>
              </a:lnSpc>
              <a:buNone/>
            </a:pPr>
            <a:r>
              <a:rPr lang="en-US" sz="1000" dirty="0">
                <a:solidFill>
                  <a:srgbClr val="6F7185"/>
                </a:solidFill>
                <a:latin typeface="Heebo Light" pitchFamily="34" charset="0"/>
                <a:ea typeface="Heebo Light" pitchFamily="34" charset="-122"/>
                <a:cs typeface="Heebo Light" pitchFamily="34" charset="-120"/>
              </a:rPr>
              <a:t>Direct business investment in Grenada under Section 11A of the CBI Act. Reviewed individually by the IMA.</a:t>
            </a:r>
            <a:endParaRPr lang="en-US" sz="1000" dirty="0"/>
          </a:p>
        </p:txBody>
      </p:sp>
      <p:sp>
        <p:nvSpPr>
          <p:cNvPr id="25" name="Text 22"/>
          <p:cNvSpPr/>
          <p:nvPr/>
        </p:nvSpPr>
        <p:spPr>
          <a:xfrm>
            <a:off x="5287321" y="3888976"/>
            <a:ext cx="1512443" cy="164592"/>
          </a:xfrm>
          <a:prstGeom prst="rect">
            <a:avLst/>
          </a:prstGeom>
          <a:noFill/>
          <a:ln/>
        </p:spPr>
        <p:txBody>
          <a:bodyPr wrap="none" lIns="0" tIns="0" rIns="0" bIns="0" rtlCol="0" anchor="t"/>
          <a:lstStyle/>
          <a:p>
            <a:pPr algn="r" indent="0" marL="0">
              <a:buNone/>
            </a:pPr>
            <a:r>
              <a:rPr lang="en-US" sz="1300" dirty="0">
                <a:solidFill>
                  <a:srgbClr val="000957"/>
                </a:solidFill>
                <a:latin typeface="Heebo Bold" pitchFamily="34" charset="0"/>
                <a:ea typeface="Heebo Bold" pitchFamily="34" charset="-122"/>
                <a:cs typeface="Heebo Bold" pitchFamily="34" charset="-120"/>
              </a:rPr>
              <a:t>Case-by-case</a:t>
            </a:r>
            <a:endParaRPr lang="en-US" sz="1300" dirty="0"/>
          </a:p>
        </p:txBody>
      </p:sp>
      <p:sp>
        <p:nvSpPr>
          <p:cNvPr id="26" name="Shape 23"/>
          <p:cNvSpPr/>
          <p:nvPr/>
        </p:nvSpPr>
        <p:spPr>
          <a:xfrm>
            <a:off x="609620" y="4722909"/>
            <a:ext cx="6342849" cy="2077517"/>
          </a:xfrm>
          <a:prstGeom prst="rect">
            <a:avLst/>
          </a:prstGeom>
          <a:solidFill>
            <a:srgbClr val="F7F8FD"/>
          </a:solidFill>
          <a:ln w="9525">
            <a:solidFill>
              <a:srgbClr val="E0E2EA"/>
            </a:solidFill>
            <a:prstDash val="solid"/>
          </a:ln>
        </p:spPr>
      </p:sp>
      <p:sp>
        <p:nvSpPr>
          <p:cNvPr id="27" name="Text 24"/>
          <p:cNvSpPr/>
          <p:nvPr/>
        </p:nvSpPr>
        <p:spPr>
          <a:xfrm>
            <a:off x="762324" y="4914933"/>
            <a:ext cx="6037439" cy="128016"/>
          </a:xfrm>
          <a:prstGeom prst="rect">
            <a:avLst/>
          </a:prstGeom>
          <a:noFill/>
          <a:ln/>
        </p:spPr>
        <p:txBody>
          <a:bodyPr wrap="square" lIns="0" tIns="0" rIns="0" bIns="0" rtlCol="0" anchor="t"/>
          <a:lstStyle/>
          <a:p>
            <a:pPr indent="0" marL="0">
              <a:buNone/>
            </a:pPr>
            <a:r>
              <a:rPr lang="en-US" sz="900" spc="200" kern="0" dirty="0">
                <a:solidFill>
                  <a:srgbClr val="000957"/>
                </a:solidFill>
                <a:latin typeface="Heebo Bold" pitchFamily="34" charset="0"/>
                <a:ea typeface="Heebo Bold" pitchFamily="34" charset="-122"/>
                <a:cs typeface="Heebo Bold" pitchFamily="34" charset="-120"/>
              </a:rPr>
              <a:t>KEY BENEFITS</a:t>
            </a:r>
            <a:endParaRPr lang="en-US" sz="900" dirty="0"/>
          </a:p>
        </p:txBody>
      </p:sp>
      <p:sp>
        <p:nvSpPr>
          <p:cNvPr id="28" name="Shape 25"/>
          <p:cNvSpPr/>
          <p:nvPr/>
        </p:nvSpPr>
        <p:spPr>
          <a:xfrm>
            <a:off x="762324" y="5134389"/>
            <a:ext cx="6037439" cy="0"/>
          </a:xfrm>
          <a:prstGeom prst="line">
            <a:avLst/>
          </a:prstGeom>
          <a:noFill/>
          <a:ln w="12700">
            <a:solidFill>
              <a:srgbClr val="E0E2EA"/>
            </a:solidFill>
            <a:prstDash val="solid"/>
          </a:ln>
        </p:spPr>
      </p:sp>
      <p:pic>
        <p:nvPicPr>
          <p:cNvPr id="29" name="Image 1" descr="/Users/victortorres/Library/Application Support/Claude/local-agent-mode-sessions/skills-plugin/d3e5681c-1000-4051-bb23-bb4f6aee7624/c3107115-7538-4e27-8275-14cfa1f9e1e7/skills/design-brochure-builder/assets/icons/_generated/flight_takeoff-outlined-outline-000957-24.png">    </p:cNvPr>
          <p:cNvPicPr>
            <a:picLocks noChangeAspect="1"/>
          </p:cNvPicPr>
          <p:nvPr/>
        </p:nvPicPr>
        <p:blipFill>
          <a:blip r:embed="rId2"/>
          <a:stretch>
            <a:fillRect/>
          </a:stretch>
        </p:blipFill>
        <p:spPr>
          <a:xfrm>
            <a:off x="762324" y="5219428"/>
            <a:ext cx="152705" cy="152705"/>
          </a:xfrm>
          <a:prstGeom prst="rect">
            <a:avLst/>
          </a:prstGeom>
        </p:spPr>
      </p:pic>
      <p:sp>
        <p:nvSpPr>
          <p:cNvPr id="30" name="Text 26"/>
          <p:cNvSpPr/>
          <p:nvPr/>
        </p:nvSpPr>
        <p:spPr>
          <a:xfrm>
            <a:off x="1010127" y="5210284"/>
            <a:ext cx="5789637" cy="256032"/>
          </a:xfrm>
          <a:prstGeom prst="rect">
            <a:avLst/>
          </a:prstGeom>
          <a:noFill/>
          <a:ln/>
        </p:spPr>
        <p:txBody>
          <a:bodyPr wrap="square" lIns="0" tIns="0" rIns="0" bIns="0" rtlCol="0" anchor="t"/>
          <a:lstStyle/>
          <a:p>
            <a:pPr indent="0" marL="0">
              <a:lnSpc>
                <a:spcPct val="140000"/>
              </a:lnSpc>
              <a:buNone/>
            </a:pPr>
            <a:r>
              <a:rPr lang="en-US" sz="1200" dirty="0">
                <a:solidFill>
                  <a:srgbClr val="4B4E65"/>
                </a:solidFill>
                <a:latin typeface="Heebo Light" pitchFamily="34" charset="0"/>
                <a:ea typeface="Heebo Light" pitchFamily="34" charset="-122"/>
                <a:cs typeface="Heebo Light" pitchFamily="34" charset="-120"/>
              </a:rPr>
              <a:t>US E-2 Visa Access — Only Caribbean CBI with US Treaty Investor Visa eligibility</a:t>
            </a:r>
            <a:endParaRPr lang="en-US" sz="1200" dirty="0"/>
          </a:p>
        </p:txBody>
      </p:sp>
      <p:sp>
        <p:nvSpPr>
          <p:cNvPr id="31" name="Shape 27"/>
          <p:cNvSpPr/>
          <p:nvPr/>
        </p:nvSpPr>
        <p:spPr>
          <a:xfrm>
            <a:off x="762324" y="5466316"/>
            <a:ext cx="6037439" cy="0"/>
          </a:xfrm>
          <a:prstGeom prst="line">
            <a:avLst/>
          </a:prstGeom>
          <a:noFill/>
          <a:ln w="12700">
            <a:solidFill>
              <a:srgbClr val="E0E2EA"/>
            </a:solidFill>
            <a:prstDash val="solid"/>
          </a:ln>
        </p:spPr>
      </p:sp>
      <p:pic>
        <p:nvPicPr>
          <p:cNvPr id="32" name="Image 2" descr="/Users/victortorres/Library/Application Support/Claude/local-agent-mode-sessions/skills-plugin/d3e5681c-1000-4051-bb23-bb4f6aee7624/c3107115-7538-4e27-8275-14cfa1f9e1e7/skills/design-brochure-builder/assets/icons/_generated/public-outlined-outline-000957-24.png">    </p:cNvPr>
          <p:cNvPicPr>
            <a:picLocks noChangeAspect="1"/>
          </p:cNvPicPr>
          <p:nvPr/>
        </p:nvPicPr>
        <p:blipFill>
          <a:blip r:embed="rId3"/>
          <a:stretch>
            <a:fillRect/>
          </a:stretch>
        </p:blipFill>
        <p:spPr>
          <a:xfrm>
            <a:off x="762324" y="5551355"/>
            <a:ext cx="152705" cy="152705"/>
          </a:xfrm>
          <a:prstGeom prst="rect">
            <a:avLst/>
          </a:prstGeom>
        </p:spPr>
      </p:pic>
      <p:sp>
        <p:nvSpPr>
          <p:cNvPr id="33" name="Text 28"/>
          <p:cNvSpPr/>
          <p:nvPr/>
        </p:nvSpPr>
        <p:spPr>
          <a:xfrm>
            <a:off x="1010127" y="5542211"/>
            <a:ext cx="5789637" cy="256032"/>
          </a:xfrm>
          <a:prstGeom prst="rect">
            <a:avLst/>
          </a:prstGeom>
          <a:noFill/>
          <a:ln/>
        </p:spPr>
        <p:txBody>
          <a:bodyPr wrap="square" lIns="0" tIns="0" rIns="0" bIns="0" rtlCol="0" anchor="t"/>
          <a:lstStyle/>
          <a:p>
            <a:pPr indent="0" marL="0">
              <a:lnSpc>
                <a:spcPct val="140000"/>
              </a:lnSpc>
              <a:buNone/>
            </a:pPr>
            <a:r>
              <a:rPr lang="en-US" sz="1200" dirty="0">
                <a:solidFill>
                  <a:srgbClr val="4B4E65"/>
                </a:solidFill>
                <a:latin typeface="Heebo Light" pitchFamily="34" charset="0"/>
                <a:ea typeface="Heebo Light" pitchFamily="34" charset="-122"/>
                <a:cs typeface="Heebo Light" pitchFamily="34" charset="-120"/>
              </a:rPr>
              <a:t>Visa-Free Travel — 145+ countries incl. UK, Schengen, China, Singapore &amp; HK</a:t>
            </a:r>
            <a:endParaRPr lang="en-US" sz="1200" dirty="0"/>
          </a:p>
        </p:txBody>
      </p:sp>
      <p:sp>
        <p:nvSpPr>
          <p:cNvPr id="34" name="Shape 29"/>
          <p:cNvSpPr/>
          <p:nvPr/>
        </p:nvSpPr>
        <p:spPr>
          <a:xfrm>
            <a:off x="762324" y="5798243"/>
            <a:ext cx="6037439" cy="0"/>
          </a:xfrm>
          <a:prstGeom prst="line">
            <a:avLst/>
          </a:prstGeom>
          <a:noFill/>
          <a:ln w="12700">
            <a:solidFill>
              <a:srgbClr val="E0E2EA"/>
            </a:solidFill>
            <a:prstDash val="solid"/>
          </a:ln>
        </p:spPr>
      </p:sp>
      <p:pic>
        <p:nvPicPr>
          <p:cNvPr id="35" name="Image 3" descr="/Users/victortorres/Library/Application Support/Claude/local-agent-mode-sessions/skills-plugin/d3e5681c-1000-4051-bb23-bb4f6aee7624/c3107115-7538-4e27-8275-14cfa1f9e1e7/skills/design-brochure-builder/assets/icons/_generated/verified-outlined-outline-000957-24.png">    </p:cNvPr>
          <p:cNvPicPr>
            <a:picLocks noChangeAspect="1"/>
          </p:cNvPicPr>
          <p:nvPr/>
        </p:nvPicPr>
        <p:blipFill>
          <a:blip r:embed="rId4"/>
          <a:stretch>
            <a:fillRect/>
          </a:stretch>
        </p:blipFill>
        <p:spPr>
          <a:xfrm>
            <a:off x="762324" y="5883283"/>
            <a:ext cx="152705" cy="152705"/>
          </a:xfrm>
          <a:prstGeom prst="rect">
            <a:avLst/>
          </a:prstGeom>
        </p:spPr>
      </p:pic>
      <p:sp>
        <p:nvSpPr>
          <p:cNvPr id="36" name="Text 30"/>
          <p:cNvSpPr/>
          <p:nvPr/>
        </p:nvSpPr>
        <p:spPr>
          <a:xfrm>
            <a:off x="1010127" y="5874139"/>
            <a:ext cx="5789637" cy="256032"/>
          </a:xfrm>
          <a:prstGeom prst="rect">
            <a:avLst/>
          </a:prstGeom>
          <a:noFill/>
          <a:ln/>
        </p:spPr>
        <p:txBody>
          <a:bodyPr wrap="square" lIns="0" tIns="0" rIns="0" bIns="0" rtlCol="0" anchor="t"/>
          <a:lstStyle/>
          <a:p>
            <a:pPr indent="0" marL="0">
              <a:lnSpc>
                <a:spcPct val="140000"/>
              </a:lnSpc>
              <a:buNone/>
            </a:pPr>
            <a:r>
              <a:rPr lang="en-US" sz="1200" dirty="0">
                <a:solidFill>
                  <a:srgbClr val="4B4E65"/>
                </a:solidFill>
                <a:latin typeface="Heebo Light" pitchFamily="34" charset="0"/>
                <a:ea typeface="Heebo Light" pitchFamily="34" charset="-122"/>
                <a:cs typeface="Heebo Light" pitchFamily="34" charset="-120"/>
              </a:rPr>
              <a:t>Dual Citizenship — Fully permitted, no need to relinquish nationality</a:t>
            </a:r>
            <a:endParaRPr lang="en-US" sz="1200" dirty="0"/>
          </a:p>
        </p:txBody>
      </p:sp>
      <p:sp>
        <p:nvSpPr>
          <p:cNvPr id="37" name="Shape 31"/>
          <p:cNvSpPr/>
          <p:nvPr/>
        </p:nvSpPr>
        <p:spPr>
          <a:xfrm>
            <a:off x="762324" y="6130171"/>
            <a:ext cx="6037439" cy="0"/>
          </a:xfrm>
          <a:prstGeom prst="line">
            <a:avLst/>
          </a:prstGeom>
          <a:noFill/>
          <a:ln w="12700">
            <a:solidFill>
              <a:srgbClr val="E0E2EA"/>
            </a:solidFill>
            <a:prstDash val="solid"/>
          </a:ln>
        </p:spPr>
      </p:sp>
      <p:pic>
        <p:nvPicPr>
          <p:cNvPr id="38" name="Image 4" descr="/Users/victortorres/Library/Application Support/Claude/local-agent-mode-sessions/skills-plugin/d3e5681c-1000-4051-bb23-bb4f6aee7624/c3107115-7538-4e27-8275-14cfa1f9e1e7/skills/design-brochure-builder/assets/icons/_generated/percent-outlined-outline-000957-24.png">    </p:cNvPr>
          <p:cNvPicPr>
            <a:picLocks noChangeAspect="1"/>
          </p:cNvPicPr>
          <p:nvPr/>
        </p:nvPicPr>
        <p:blipFill>
          <a:blip r:embed="rId5"/>
          <a:stretch>
            <a:fillRect/>
          </a:stretch>
        </p:blipFill>
        <p:spPr>
          <a:xfrm>
            <a:off x="762324" y="6215210"/>
            <a:ext cx="152705" cy="152705"/>
          </a:xfrm>
          <a:prstGeom prst="rect">
            <a:avLst/>
          </a:prstGeom>
        </p:spPr>
      </p:pic>
      <p:sp>
        <p:nvSpPr>
          <p:cNvPr id="39" name="Text 32"/>
          <p:cNvSpPr/>
          <p:nvPr/>
        </p:nvSpPr>
        <p:spPr>
          <a:xfrm>
            <a:off x="1010127" y="6206066"/>
            <a:ext cx="5789637" cy="512064"/>
          </a:xfrm>
          <a:prstGeom prst="rect">
            <a:avLst/>
          </a:prstGeom>
          <a:noFill/>
          <a:ln/>
        </p:spPr>
        <p:txBody>
          <a:bodyPr wrap="square" lIns="0" tIns="0" rIns="0" bIns="0" rtlCol="0" anchor="t"/>
          <a:lstStyle/>
          <a:p>
            <a:pPr indent="0" marL="0">
              <a:lnSpc>
                <a:spcPct val="140000"/>
              </a:lnSpc>
              <a:buNone/>
            </a:pPr>
            <a:r>
              <a:rPr lang="en-US" sz="1200" dirty="0">
                <a:solidFill>
                  <a:srgbClr val="4B4E65"/>
                </a:solidFill>
                <a:latin typeface="Heebo Light" pitchFamily="34" charset="0"/>
                <a:ea typeface="Heebo Light" pitchFamily="34" charset="-122"/>
                <a:cs typeface="Heebo Light" pitchFamily="34" charset="-120"/>
              </a:rPr>
              <a:t>No Foreign Income Tax — Zero worldwide income, capital gains, inheritance or wealth tax</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620" y="0"/>
            <a:ext cx="3805709" cy="533417"/>
          </a:xfrm>
          <a:prstGeom prst="rect">
            <a:avLst/>
          </a:prstGeom>
          <a:noFill/>
          <a:ln/>
        </p:spPr>
        <p:txBody>
          <a:bodyPr wrap="square" lIns="0" tIns="0" rIns="0" bIns="0" rtlCol="0" anchor="ctr"/>
          <a:lstStyle/>
          <a:p>
            <a:pPr indent="0" marL="0">
              <a:buNone/>
            </a:pPr>
            <a:r>
              <a:rPr lang="en-US" sz="750" spc="320" kern="0" dirty="0">
                <a:solidFill>
                  <a:srgbClr val="9B9CAD"/>
                </a:solidFill>
                <a:latin typeface="Heebo Medium" pitchFamily="34" charset="0"/>
                <a:ea typeface="Heebo Medium" pitchFamily="34" charset="-122"/>
                <a:cs typeface="Heebo Medium" pitchFamily="34" charset="-120"/>
              </a:rPr>
              <a:t>GRENADA · CITIZENSHIP BY INVESTMENT</a:t>
            </a:r>
            <a:endParaRPr lang="en-US" sz="750" dirty="0"/>
          </a:p>
        </p:txBody>
      </p:sp>
      <p:pic>
        <p:nvPicPr>
          <p:cNvPr id="3" name="Image 0" descr="/Users/victortorres/Library/Application Support/Claude/local-agent-mode-sessions/skills-plugin/d3e5681c-1000-4051-bb23-bb4f6aee7624/c3107115-7538-4e27-8275-14cfa1f9e1e7/skills/design-brochure-builder/assets/logos/GCS-Secondary-Blue.png">    </p:cNvPr>
          <p:cNvPicPr>
            <a:picLocks noChangeAspect="1"/>
          </p:cNvPicPr>
          <p:nvPr/>
        </p:nvPicPr>
        <p:blipFill>
          <a:blip r:embed="rId1"/>
          <a:stretch>
            <a:fillRect/>
          </a:stretch>
        </p:blipFill>
        <p:spPr>
          <a:xfrm>
            <a:off x="5282344" y="214131"/>
            <a:ext cx="1670125" cy="105156"/>
          </a:xfrm>
          <a:prstGeom prst="rect">
            <a:avLst/>
          </a:prstGeom>
        </p:spPr>
      </p:pic>
      <p:sp>
        <p:nvSpPr>
          <p:cNvPr id="4" name="Shape 1"/>
          <p:cNvSpPr/>
          <p:nvPr/>
        </p:nvSpPr>
        <p:spPr>
          <a:xfrm>
            <a:off x="609620" y="533417"/>
            <a:ext cx="6342849" cy="0"/>
          </a:xfrm>
          <a:prstGeom prst="line">
            <a:avLst/>
          </a:prstGeom>
          <a:noFill/>
          <a:ln w="9525">
            <a:solidFill>
              <a:srgbClr val="E0E2EA"/>
            </a:solidFill>
            <a:prstDash val="solid"/>
          </a:ln>
        </p:spPr>
      </p:sp>
      <p:sp>
        <p:nvSpPr>
          <p:cNvPr id="5" name="Shape 2"/>
          <p:cNvSpPr/>
          <p:nvPr/>
        </p:nvSpPr>
        <p:spPr>
          <a:xfrm>
            <a:off x="609620" y="10270223"/>
            <a:ext cx="6342849" cy="0"/>
          </a:xfrm>
          <a:prstGeom prst="line">
            <a:avLst/>
          </a:prstGeom>
          <a:noFill/>
          <a:ln w="9525">
            <a:solidFill>
              <a:srgbClr val="E0E2EA"/>
            </a:solidFill>
            <a:prstDash val="solid"/>
          </a:ln>
        </p:spPr>
      </p:sp>
      <p:sp>
        <p:nvSpPr>
          <p:cNvPr id="6" name="Text 3"/>
          <p:cNvSpPr/>
          <p:nvPr/>
        </p:nvSpPr>
        <p:spPr>
          <a:xfrm>
            <a:off x="609620" y="10388339"/>
            <a:ext cx="4439994" cy="182880"/>
          </a:xfrm>
          <a:prstGeom prst="rect">
            <a:avLst/>
          </a:prstGeom>
          <a:noFill/>
          <a:ln/>
        </p:spPr>
        <p:txBody>
          <a:bodyPr wrap="square" lIns="0" tIns="0" rIns="0" bIns="0" rtlCol="0" anchor="ctr"/>
          <a:lstStyle/>
          <a:p>
            <a:pPr indent="0" marL="0">
              <a:buNone/>
            </a:pPr>
            <a:r>
              <a:rPr lang="en-US" sz="825" dirty="0">
                <a:solidFill>
                  <a:srgbClr val="C6C8D5"/>
                </a:solidFill>
                <a:latin typeface="Heebo" pitchFamily="34" charset="0"/>
                <a:ea typeface="Heebo" pitchFamily="34" charset="-122"/>
                <a:cs typeface="Heebo" pitchFamily="34" charset="-120"/>
              </a:rPr>
              <a:t>© 2026 Global Citizen Solutions — Confidential</a:t>
            </a:r>
            <a:endParaRPr lang="en-US" sz="825" dirty="0"/>
          </a:p>
        </p:txBody>
      </p:sp>
      <p:sp>
        <p:nvSpPr>
          <p:cNvPr id="7" name="Text 4"/>
          <p:cNvSpPr/>
          <p:nvPr/>
        </p:nvSpPr>
        <p:spPr>
          <a:xfrm>
            <a:off x="5049614" y="10388339"/>
            <a:ext cx="1902855" cy="182880"/>
          </a:xfrm>
          <a:prstGeom prst="rect">
            <a:avLst/>
          </a:prstGeom>
          <a:noFill/>
          <a:ln/>
        </p:spPr>
        <p:txBody>
          <a:bodyPr wrap="square" lIns="0" tIns="0" rIns="0" bIns="0" rtlCol="0" anchor="ctr"/>
          <a:lstStyle/>
          <a:p>
            <a:pPr algn="r" indent="0" marL="0">
              <a:buNone/>
            </a:pPr>
            <a:r>
              <a:rPr lang="en-US" sz="825" spc="150" kern="0" dirty="0">
                <a:solidFill>
                  <a:srgbClr val="C6C8D5"/>
                </a:solidFill>
                <a:latin typeface="Heebo" pitchFamily="34" charset="0"/>
                <a:ea typeface="Heebo" pitchFamily="34" charset="-122"/>
                <a:cs typeface="Heebo" pitchFamily="34" charset="-120"/>
              </a:rPr>
              <a:t>04</a:t>
            </a:r>
            <a:endParaRPr lang="en-US" sz="825" dirty="0"/>
          </a:p>
        </p:txBody>
      </p:sp>
      <p:sp>
        <p:nvSpPr>
          <p:cNvPr id="8" name="Text 5"/>
          <p:cNvSpPr/>
          <p:nvPr/>
        </p:nvSpPr>
        <p:spPr>
          <a:xfrm>
            <a:off x="609620" y="1028733"/>
            <a:ext cx="6342849" cy="146304"/>
          </a:xfrm>
          <a:prstGeom prst="rect">
            <a:avLst/>
          </a:prstGeom>
          <a:noFill/>
          <a:ln/>
        </p:spPr>
        <p:txBody>
          <a:bodyPr wrap="square" lIns="0" tIns="0" rIns="0" bIns="0" rtlCol="0" anchor="ctr"/>
          <a:lstStyle/>
          <a:p>
            <a:pPr indent="0" marL="0">
              <a:buNone/>
            </a:pPr>
            <a:r>
              <a:rPr lang="en-US" sz="1000" spc="180" kern="0" dirty="0">
                <a:solidFill>
                  <a:srgbClr val="6F7185"/>
                </a:solidFill>
                <a:latin typeface="Heebo Bold" pitchFamily="34" charset="0"/>
                <a:ea typeface="Heebo Bold" pitchFamily="34" charset="-122"/>
                <a:cs typeface="Heebo Bold" pitchFamily="34" charset="-120"/>
              </a:rPr>
              <a:t>APPLICATION PROCEDURE</a:t>
            </a:r>
            <a:endParaRPr lang="en-US" sz="1000" dirty="0"/>
          </a:p>
        </p:txBody>
      </p:sp>
      <p:sp>
        <p:nvSpPr>
          <p:cNvPr id="9" name="Shape 6"/>
          <p:cNvSpPr/>
          <p:nvPr/>
        </p:nvSpPr>
        <p:spPr>
          <a:xfrm>
            <a:off x="609620" y="1284765"/>
            <a:ext cx="6342849" cy="0"/>
          </a:xfrm>
          <a:prstGeom prst="line">
            <a:avLst/>
          </a:prstGeom>
          <a:noFill/>
          <a:ln w="9525">
            <a:solidFill>
              <a:srgbClr val="ECEDF5"/>
            </a:solidFill>
            <a:prstDash val="solid"/>
          </a:ln>
        </p:spPr>
      </p:sp>
      <p:sp>
        <p:nvSpPr>
          <p:cNvPr id="10" name="Shape 7"/>
          <p:cNvSpPr/>
          <p:nvPr/>
        </p:nvSpPr>
        <p:spPr>
          <a:xfrm>
            <a:off x="609620" y="1458501"/>
            <a:ext cx="267005" cy="267005"/>
          </a:xfrm>
          <a:prstGeom prst="ellipse">
            <a:avLst/>
          </a:prstGeom>
          <a:solidFill>
            <a:srgbClr val="000957"/>
          </a:solidFill>
          <a:ln/>
        </p:spPr>
      </p:sp>
      <p:sp>
        <p:nvSpPr>
          <p:cNvPr id="11" name="Text 8"/>
          <p:cNvSpPr/>
          <p:nvPr/>
        </p:nvSpPr>
        <p:spPr>
          <a:xfrm>
            <a:off x="609620" y="1458501"/>
            <a:ext cx="267005" cy="267005"/>
          </a:xfrm>
          <a:prstGeom prst="rect">
            <a:avLst/>
          </a:prstGeom>
          <a:noFill/>
          <a:ln/>
        </p:spPr>
        <p:txBody>
          <a:bodyPr wrap="square" lIns="0" tIns="0" rIns="0" bIns="0" rtlCol="0" anchor="ctr"/>
          <a:lstStyle/>
          <a:p>
            <a:pPr algn="ctr" indent="0" marL="0">
              <a:buNone/>
            </a:pPr>
            <a:r>
              <a:rPr lang="en-US" sz="900" dirty="0">
                <a:solidFill>
                  <a:srgbClr val="FFFFFF"/>
                </a:solidFill>
                <a:latin typeface="Heebo Bold" pitchFamily="34" charset="0"/>
                <a:ea typeface="Heebo Bold" pitchFamily="34" charset="-122"/>
                <a:cs typeface="Heebo Bold" pitchFamily="34" charset="-120"/>
              </a:rPr>
              <a:t>01</a:t>
            </a:r>
            <a:endParaRPr lang="en-US" sz="900" dirty="0"/>
          </a:p>
        </p:txBody>
      </p:sp>
      <p:sp>
        <p:nvSpPr>
          <p:cNvPr id="12" name="Text 9"/>
          <p:cNvSpPr/>
          <p:nvPr/>
        </p:nvSpPr>
        <p:spPr>
          <a:xfrm>
            <a:off x="1105224" y="1440213"/>
            <a:ext cx="5847244" cy="256032"/>
          </a:xfrm>
          <a:prstGeom prst="rect">
            <a:avLst/>
          </a:prstGeom>
          <a:noFill/>
          <a:ln/>
        </p:spPr>
        <p:txBody>
          <a:bodyPr wrap="square" lIns="0" tIns="0" rIns="0" bIns="0" rtlCol="0" anchor="t"/>
          <a:lstStyle/>
          <a:p>
            <a:pPr indent="0" marL="0">
              <a:buNone/>
            </a:pPr>
            <a:r>
              <a:rPr lang="en-US" sz="1800" dirty="0">
                <a:solidFill>
                  <a:srgbClr val="16182A"/>
                </a:solidFill>
                <a:latin typeface="Yrsa" pitchFamily="34" charset="0"/>
                <a:ea typeface="Yrsa" pitchFamily="34" charset="-122"/>
                <a:cs typeface="Yrsa" pitchFamily="34" charset="-120"/>
              </a:rPr>
              <a:t>Eligibility Check</a:t>
            </a:r>
            <a:endParaRPr lang="en-US" sz="1800" dirty="0"/>
          </a:p>
        </p:txBody>
      </p:sp>
      <p:sp>
        <p:nvSpPr>
          <p:cNvPr id="13" name="Text 10"/>
          <p:cNvSpPr/>
          <p:nvPr/>
        </p:nvSpPr>
        <p:spPr>
          <a:xfrm>
            <a:off x="1105224" y="1687101"/>
            <a:ext cx="5847244" cy="280670"/>
          </a:xfrm>
          <a:prstGeom prst="rect">
            <a:avLst/>
          </a:prstGeom>
          <a:noFill/>
          <a:ln/>
        </p:spPr>
        <p:txBody>
          <a:bodyPr wrap="square" lIns="0" tIns="0" rIns="0" bIns="0" rtlCol="0" anchor="t"/>
          <a:lstStyle/>
          <a:p>
            <a:pPr indent="0" marL="0">
              <a:lnSpc>
                <a:spcPct val="170000"/>
              </a:lnSpc>
              <a:buNone/>
            </a:pPr>
            <a:r>
              <a:rPr lang="en-US" sz="1300" dirty="0">
                <a:solidFill>
                  <a:srgbClr val="6F7185"/>
                </a:solidFill>
                <a:latin typeface="Heebo Light" pitchFamily="34" charset="0"/>
                <a:ea typeface="Heebo Light" pitchFamily="34" charset="-122"/>
                <a:cs typeface="Heebo Light" pitchFamily="34" charset="-120"/>
              </a:rPr>
              <a:t>Assessment of applicant profile, family &amp; financial background</a:t>
            </a:r>
            <a:endParaRPr lang="en-US" sz="1300" dirty="0"/>
          </a:p>
        </p:txBody>
      </p:sp>
      <p:sp>
        <p:nvSpPr>
          <p:cNvPr id="14" name="Shape 11"/>
          <p:cNvSpPr/>
          <p:nvPr/>
        </p:nvSpPr>
        <p:spPr>
          <a:xfrm>
            <a:off x="609620" y="2141507"/>
            <a:ext cx="6342849" cy="0"/>
          </a:xfrm>
          <a:prstGeom prst="line">
            <a:avLst/>
          </a:prstGeom>
          <a:noFill/>
          <a:ln w="9525">
            <a:solidFill>
              <a:srgbClr val="ECEDF5"/>
            </a:solidFill>
            <a:prstDash val="solid"/>
          </a:ln>
        </p:spPr>
      </p:sp>
      <p:sp>
        <p:nvSpPr>
          <p:cNvPr id="15" name="Shape 12"/>
          <p:cNvSpPr/>
          <p:nvPr/>
        </p:nvSpPr>
        <p:spPr>
          <a:xfrm>
            <a:off x="609620" y="2315243"/>
            <a:ext cx="267005" cy="267005"/>
          </a:xfrm>
          <a:prstGeom prst="ellipse">
            <a:avLst/>
          </a:prstGeom>
          <a:solidFill>
            <a:srgbClr val="000957"/>
          </a:solidFill>
          <a:ln/>
        </p:spPr>
      </p:sp>
      <p:sp>
        <p:nvSpPr>
          <p:cNvPr id="16" name="Text 13"/>
          <p:cNvSpPr/>
          <p:nvPr/>
        </p:nvSpPr>
        <p:spPr>
          <a:xfrm>
            <a:off x="609620" y="2315243"/>
            <a:ext cx="267005" cy="267005"/>
          </a:xfrm>
          <a:prstGeom prst="rect">
            <a:avLst/>
          </a:prstGeom>
          <a:noFill/>
          <a:ln/>
        </p:spPr>
        <p:txBody>
          <a:bodyPr wrap="square" lIns="0" tIns="0" rIns="0" bIns="0" rtlCol="0" anchor="ctr"/>
          <a:lstStyle/>
          <a:p>
            <a:pPr algn="ctr" indent="0" marL="0">
              <a:buNone/>
            </a:pPr>
            <a:r>
              <a:rPr lang="en-US" sz="900" dirty="0">
                <a:solidFill>
                  <a:srgbClr val="FFFFFF"/>
                </a:solidFill>
                <a:latin typeface="Heebo Bold" pitchFamily="34" charset="0"/>
                <a:ea typeface="Heebo Bold" pitchFamily="34" charset="-122"/>
                <a:cs typeface="Heebo Bold" pitchFamily="34" charset="-120"/>
              </a:rPr>
              <a:t>02</a:t>
            </a:r>
            <a:endParaRPr lang="en-US" sz="900" dirty="0"/>
          </a:p>
        </p:txBody>
      </p:sp>
      <p:sp>
        <p:nvSpPr>
          <p:cNvPr id="17" name="Text 14"/>
          <p:cNvSpPr/>
          <p:nvPr/>
        </p:nvSpPr>
        <p:spPr>
          <a:xfrm>
            <a:off x="1105224" y="2296955"/>
            <a:ext cx="5847244" cy="256032"/>
          </a:xfrm>
          <a:prstGeom prst="rect">
            <a:avLst/>
          </a:prstGeom>
          <a:noFill/>
          <a:ln/>
        </p:spPr>
        <p:txBody>
          <a:bodyPr wrap="square" lIns="0" tIns="0" rIns="0" bIns="0" rtlCol="0" anchor="t"/>
          <a:lstStyle/>
          <a:p>
            <a:pPr indent="0" marL="0">
              <a:buNone/>
            </a:pPr>
            <a:r>
              <a:rPr lang="en-US" sz="1800" dirty="0">
                <a:solidFill>
                  <a:srgbClr val="16182A"/>
                </a:solidFill>
                <a:latin typeface="Yrsa" pitchFamily="34" charset="0"/>
                <a:ea typeface="Yrsa" pitchFamily="34" charset="-122"/>
                <a:cs typeface="Yrsa" pitchFamily="34" charset="-120"/>
              </a:rPr>
              <a:t>Select Investment</a:t>
            </a:r>
            <a:endParaRPr lang="en-US" sz="1800" dirty="0"/>
          </a:p>
        </p:txBody>
      </p:sp>
      <p:sp>
        <p:nvSpPr>
          <p:cNvPr id="18" name="Text 15"/>
          <p:cNvSpPr/>
          <p:nvPr/>
        </p:nvSpPr>
        <p:spPr>
          <a:xfrm>
            <a:off x="1105224" y="2543843"/>
            <a:ext cx="5847244" cy="280670"/>
          </a:xfrm>
          <a:prstGeom prst="rect">
            <a:avLst/>
          </a:prstGeom>
          <a:noFill/>
          <a:ln/>
        </p:spPr>
        <p:txBody>
          <a:bodyPr wrap="square" lIns="0" tIns="0" rIns="0" bIns="0" rtlCol="0" anchor="t"/>
          <a:lstStyle/>
          <a:p>
            <a:pPr indent="0" marL="0">
              <a:lnSpc>
                <a:spcPct val="170000"/>
              </a:lnSpc>
              <a:buNone/>
            </a:pPr>
            <a:r>
              <a:rPr lang="en-US" sz="1300" dirty="0">
                <a:solidFill>
                  <a:srgbClr val="6F7185"/>
                </a:solidFill>
                <a:latin typeface="Heebo Light" pitchFamily="34" charset="0"/>
                <a:ea typeface="Heebo Light" pitchFamily="34" charset="-122"/>
                <a:cs typeface="Heebo Light" pitchFamily="34" charset="-120"/>
              </a:rPr>
              <a:t>Choose NTF donation, approved real estate or business route</a:t>
            </a:r>
            <a:endParaRPr lang="en-US" sz="1300" dirty="0"/>
          </a:p>
        </p:txBody>
      </p:sp>
      <p:sp>
        <p:nvSpPr>
          <p:cNvPr id="19" name="Shape 16"/>
          <p:cNvSpPr/>
          <p:nvPr/>
        </p:nvSpPr>
        <p:spPr>
          <a:xfrm>
            <a:off x="609620" y="2998249"/>
            <a:ext cx="6342849" cy="0"/>
          </a:xfrm>
          <a:prstGeom prst="line">
            <a:avLst/>
          </a:prstGeom>
          <a:noFill/>
          <a:ln w="9525">
            <a:solidFill>
              <a:srgbClr val="ECEDF5"/>
            </a:solidFill>
            <a:prstDash val="solid"/>
          </a:ln>
        </p:spPr>
      </p:sp>
      <p:sp>
        <p:nvSpPr>
          <p:cNvPr id="20" name="Shape 17"/>
          <p:cNvSpPr/>
          <p:nvPr/>
        </p:nvSpPr>
        <p:spPr>
          <a:xfrm>
            <a:off x="609620" y="3171985"/>
            <a:ext cx="267005" cy="267005"/>
          </a:xfrm>
          <a:prstGeom prst="ellipse">
            <a:avLst/>
          </a:prstGeom>
          <a:solidFill>
            <a:srgbClr val="000957"/>
          </a:solidFill>
          <a:ln/>
        </p:spPr>
      </p:sp>
      <p:sp>
        <p:nvSpPr>
          <p:cNvPr id="21" name="Text 18"/>
          <p:cNvSpPr/>
          <p:nvPr/>
        </p:nvSpPr>
        <p:spPr>
          <a:xfrm>
            <a:off x="609620" y="3171985"/>
            <a:ext cx="267005" cy="267005"/>
          </a:xfrm>
          <a:prstGeom prst="rect">
            <a:avLst/>
          </a:prstGeom>
          <a:noFill/>
          <a:ln/>
        </p:spPr>
        <p:txBody>
          <a:bodyPr wrap="square" lIns="0" tIns="0" rIns="0" bIns="0" rtlCol="0" anchor="ctr"/>
          <a:lstStyle/>
          <a:p>
            <a:pPr algn="ctr" indent="0" marL="0">
              <a:buNone/>
            </a:pPr>
            <a:r>
              <a:rPr lang="en-US" sz="900" dirty="0">
                <a:solidFill>
                  <a:srgbClr val="FFFFFF"/>
                </a:solidFill>
                <a:latin typeface="Heebo Bold" pitchFamily="34" charset="0"/>
                <a:ea typeface="Heebo Bold" pitchFamily="34" charset="-122"/>
                <a:cs typeface="Heebo Bold" pitchFamily="34" charset="-120"/>
              </a:rPr>
              <a:t>03</a:t>
            </a:r>
            <a:endParaRPr lang="en-US" sz="900" dirty="0"/>
          </a:p>
        </p:txBody>
      </p:sp>
      <p:sp>
        <p:nvSpPr>
          <p:cNvPr id="22" name="Text 19"/>
          <p:cNvSpPr/>
          <p:nvPr/>
        </p:nvSpPr>
        <p:spPr>
          <a:xfrm>
            <a:off x="1105224" y="3153697"/>
            <a:ext cx="5847244" cy="256032"/>
          </a:xfrm>
          <a:prstGeom prst="rect">
            <a:avLst/>
          </a:prstGeom>
          <a:noFill/>
          <a:ln/>
        </p:spPr>
        <p:txBody>
          <a:bodyPr wrap="square" lIns="0" tIns="0" rIns="0" bIns="0" rtlCol="0" anchor="t"/>
          <a:lstStyle/>
          <a:p>
            <a:pPr indent="0" marL="0">
              <a:buNone/>
            </a:pPr>
            <a:r>
              <a:rPr lang="en-US" sz="1800" dirty="0">
                <a:solidFill>
                  <a:srgbClr val="16182A"/>
                </a:solidFill>
                <a:latin typeface="Yrsa" pitchFamily="34" charset="0"/>
                <a:ea typeface="Yrsa" pitchFamily="34" charset="-122"/>
                <a:cs typeface="Yrsa" pitchFamily="34" charset="-120"/>
              </a:rPr>
              <a:t>Prepare Documents</a:t>
            </a:r>
            <a:endParaRPr lang="en-US" sz="1800" dirty="0"/>
          </a:p>
        </p:txBody>
      </p:sp>
      <p:sp>
        <p:nvSpPr>
          <p:cNvPr id="23" name="Text 20"/>
          <p:cNvSpPr/>
          <p:nvPr/>
        </p:nvSpPr>
        <p:spPr>
          <a:xfrm>
            <a:off x="1105224" y="3400585"/>
            <a:ext cx="5847244" cy="280670"/>
          </a:xfrm>
          <a:prstGeom prst="rect">
            <a:avLst/>
          </a:prstGeom>
          <a:noFill/>
          <a:ln/>
        </p:spPr>
        <p:txBody>
          <a:bodyPr wrap="square" lIns="0" tIns="0" rIns="0" bIns="0" rtlCol="0" anchor="t"/>
          <a:lstStyle/>
          <a:p>
            <a:pPr indent="0" marL="0">
              <a:lnSpc>
                <a:spcPct val="170000"/>
              </a:lnSpc>
              <a:buNone/>
            </a:pPr>
            <a:r>
              <a:rPr lang="en-US" sz="1300" dirty="0">
                <a:solidFill>
                  <a:srgbClr val="6F7185"/>
                </a:solidFill>
                <a:latin typeface="Heebo Light" pitchFamily="34" charset="0"/>
                <a:ea typeface="Heebo Light" pitchFamily="34" charset="-122"/>
                <a:cs typeface="Heebo Light" pitchFamily="34" charset="-120"/>
              </a:rPr>
              <a:t>Passport, police clearance, proof of funds, certificates</a:t>
            </a:r>
            <a:endParaRPr lang="en-US" sz="1300" dirty="0"/>
          </a:p>
        </p:txBody>
      </p:sp>
      <p:sp>
        <p:nvSpPr>
          <p:cNvPr id="24" name="Shape 21"/>
          <p:cNvSpPr/>
          <p:nvPr/>
        </p:nvSpPr>
        <p:spPr>
          <a:xfrm>
            <a:off x="609620" y="3854991"/>
            <a:ext cx="6342849" cy="0"/>
          </a:xfrm>
          <a:prstGeom prst="line">
            <a:avLst/>
          </a:prstGeom>
          <a:noFill/>
          <a:ln w="9525">
            <a:solidFill>
              <a:srgbClr val="ECEDF5"/>
            </a:solidFill>
            <a:prstDash val="solid"/>
          </a:ln>
        </p:spPr>
      </p:sp>
      <p:sp>
        <p:nvSpPr>
          <p:cNvPr id="25" name="Shape 22"/>
          <p:cNvSpPr/>
          <p:nvPr/>
        </p:nvSpPr>
        <p:spPr>
          <a:xfrm>
            <a:off x="609620" y="4028727"/>
            <a:ext cx="267005" cy="267005"/>
          </a:xfrm>
          <a:prstGeom prst="ellipse">
            <a:avLst/>
          </a:prstGeom>
          <a:solidFill>
            <a:srgbClr val="000957"/>
          </a:solidFill>
          <a:ln/>
        </p:spPr>
      </p:sp>
      <p:sp>
        <p:nvSpPr>
          <p:cNvPr id="26" name="Text 23"/>
          <p:cNvSpPr/>
          <p:nvPr/>
        </p:nvSpPr>
        <p:spPr>
          <a:xfrm>
            <a:off x="609620" y="4028727"/>
            <a:ext cx="267005" cy="267005"/>
          </a:xfrm>
          <a:prstGeom prst="rect">
            <a:avLst/>
          </a:prstGeom>
          <a:noFill/>
          <a:ln/>
        </p:spPr>
        <p:txBody>
          <a:bodyPr wrap="square" lIns="0" tIns="0" rIns="0" bIns="0" rtlCol="0" anchor="ctr"/>
          <a:lstStyle/>
          <a:p>
            <a:pPr algn="ctr" indent="0" marL="0">
              <a:buNone/>
            </a:pPr>
            <a:r>
              <a:rPr lang="en-US" sz="900" dirty="0">
                <a:solidFill>
                  <a:srgbClr val="FFFFFF"/>
                </a:solidFill>
                <a:latin typeface="Heebo Bold" pitchFamily="34" charset="0"/>
                <a:ea typeface="Heebo Bold" pitchFamily="34" charset="-122"/>
                <a:cs typeface="Heebo Bold" pitchFamily="34" charset="-120"/>
              </a:rPr>
              <a:t>04</a:t>
            </a:r>
            <a:endParaRPr lang="en-US" sz="900" dirty="0"/>
          </a:p>
        </p:txBody>
      </p:sp>
      <p:sp>
        <p:nvSpPr>
          <p:cNvPr id="27" name="Text 24"/>
          <p:cNvSpPr/>
          <p:nvPr/>
        </p:nvSpPr>
        <p:spPr>
          <a:xfrm>
            <a:off x="1105224" y="4010439"/>
            <a:ext cx="5847244" cy="256032"/>
          </a:xfrm>
          <a:prstGeom prst="rect">
            <a:avLst/>
          </a:prstGeom>
          <a:noFill/>
          <a:ln/>
        </p:spPr>
        <p:txBody>
          <a:bodyPr wrap="square" lIns="0" tIns="0" rIns="0" bIns="0" rtlCol="0" anchor="t"/>
          <a:lstStyle/>
          <a:p>
            <a:pPr indent="0" marL="0">
              <a:buNone/>
            </a:pPr>
            <a:r>
              <a:rPr lang="en-US" sz="1800" dirty="0">
                <a:solidFill>
                  <a:srgbClr val="16182A"/>
                </a:solidFill>
                <a:latin typeface="Yrsa" pitchFamily="34" charset="0"/>
                <a:ea typeface="Yrsa" pitchFamily="34" charset="-122"/>
                <a:cs typeface="Yrsa" pitchFamily="34" charset="-120"/>
              </a:rPr>
              <a:t>Submit &amp; Interview</a:t>
            </a:r>
            <a:endParaRPr lang="en-US" sz="1800" dirty="0"/>
          </a:p>
        </p:txBody>
      </p:sp>
      <p:sp>
        <p:nvSpPr>
          <p:cNvPr id="28" name="Text 25"/>
          <p:cNvSpPr/>
          <p:nvPr/>
        </p:nvSpPr>
        <p:spPr>
          <a:xfrm>
            <a:off x="1105224" y="4257327"/>
            <a:ext cx="5847244" cy="280670"/>
          </a:xfrm>
          <a:prstGeom prst="rect">
            <a:avLst/>
          </a:prstGeom>
          <a:noFill/>
          <a:ln/>
        </p:spPr>
        <p:txBody>
          <a:bodyPr wrap="square" lIns="0" tIns="0" rIns="0" bIns="0" rtlCol="0" anchor="t"/>
          <a:lstStyle/>
          <a:p>
            <a:pPr indent="0" marL="0">
              <a:lnSpc>
                <a:spcPct val="170000"/>
              </a:lnSpc>
              <a:buNone/>
            </a:pPr>
            <a:r>
              <a:rPr lang="en-US" sz="1300" dirty="0">
                <a:solidFill>
                  <a:srgbClr val="6F7185"/>
                </a:solidFill>
                <a:latin typeface="Heebo Light" pitchFamily="34" charset="0"/>
                <a:ea typeface="Heebo Light" pitchFamily="34" charset="-122"/>
                <a:cs typeface="Heebo Light" pitchFamily="34" charset="-120"/>
              </a:rPr>
              <a:t>Application via licensed agent with mandatory online interview</a:t>
            </a:r>
            <a:endParaRPr lang="en-US" sz="1300" dirty="0"/>
          </a:p>
        </p:txBody>
      </p:sp>
      <p:sp>
        <p:nvSpPr>
          <p:cNvPr id="29" name="Shape 26"/>
          <p:cNvSpPr/>
          <p:nvPr/>
        </p:nvSpPr>
        <p:spPr>
          <a:xfrm>
            <a:off x="609620" y="4711733"/>
            <a:ext cx="6342849" cy="0"/>
          </a:xfrm>
          <a:prstGeom prst="line">
            <a:avLst/>
          </a:prstGeom>
          <a:noFill/>
          <a:ln w="9525">
            <a:solidFill>
              <a:srgbClr val="ECEDF5"/>
            </a:solidFill>
            <a:prstDash val="solid"/>
          </a:ln>
        </p:spPr>
      </p:sp>
      <p:sp>
        <p:nvSpPr>
          <p:cNvPr id="30" name="Shape 27"/>
          <p:cNvSpPr/>
          <p:nvPr/>
        </p:nvSpPr>
        <p:spPr>
          <a:xfrm>
            <a:off x="609620" y="4885469"/>
            <a:ext cx="267005" cy="267005"/>
          </a:xfrm>
          <a:prstGeom prst="ellipse">
            <a:avLst/>
          </a:prstGeom>
          <a:solidFill>
            <a:srgbClr val="000957"/>
          </a:solidFill>
          <a:ln/>
        </p:spPr>
      </p:sp>
      <p:sp>
        <p:nvSpPr>
          <p:cNvPr id="31" name="Text 28"/>
          <p:cNvSpPr/>
          <p:nvPr/>
        </p:nvSpPr>
        <p:spPr>
          <a:xfrm>
            <a:off x="609620" y="4885469"/>
            <a:ext cx="267005" cy="267005"/>
          </a:xfrm>
          <a:prstGeom prst="rect">
            <a:avLst/>
          </a:prstGeom>
          <a:noFill/>
          <a:ln/>
        </p:spPr>
        <p:txBody>
          <a:bodyPr wrap="square" lIns="0" tIns="0" rIns="0" bIns="0" rtlCol="0" anchor="ctr"/>
          <a:lstStyle/>
          <a:p>
            <a:pPr algn="ctr" indent="0" marL="0">
              <a:buNone/>
            </a:pPr>
            <a:r>
              <a:rPr lang="en-US" sz="900" dirty="0">
                <a:solidFill>
                  <a:srgbClr val="FFFFFF"/>
                </a:solidFill>
                <a:latin typeface="Heebo Bold" pitchFamily="34" charset="0"/>
                <a:ea typeface="Heebo Bold" pitchFamily="34" charset="-122"/>
                <a:cs typeface="Heebo Bold" pitchFamily="34" charset="-120"/>
              </a:rPr>
              <a:t>05</a:t>
            </a:r>
            <a:endParaRPr lang="en-US" sz="900" dirty="0"/>
          </a:p>
        </p:txBody>
      </p:sp>
      <p:sp>
        <p:nvSpPr>
          <p:cNvPr id="32" name="Text 29"/>
          <p:cNvSpPr/>
          <p:nvPr/>
        </p:nvSpPr>
        <p:spPr>
          <a:xfrm>
            <a:off x="1105224" y="4867181"/>
            <a:ext cx="5847244" cy="256032"/>
          </a:xfrm>
          <a:prstGeom prst="rect">
            <a:avLst/>
          </a:prstGeom>
          <a:noFill/>
          <a:ln/>
        </p:spPr>
        <p:txBody>
          <a:bodyPr wrap="square" lIns="0" tIns="0" rIns="0" bIns="0" rtlCol="0" anchor="t"/>
          <a:lstStyle/>
          <a:p>
            <a:pPr indent="0" marL="0">
              <a:buNone/>
            </a:pPr>
            <a:r>
              <a:rPr lang="en-US" sz="1800" dirty="0">
                <a:solidFill>
                  <a:srgbClr val="16182A"/>
                </a:solidFill>
                <a:latin typeface="Yrsa" pitchFamily="34" charset="0"/>
                <a:ea typeface="Yrsa" pitchFamily="34" charset="-122"/>
                <a:cs typeface="Yrsa" pitchFamily="34" charset="-120"/>
              </a:rPr>
              <a:t>Due Diligence</a:t>
            </a:r>
            <a:endParaRPr lang="en-US" sz="1800" dirty="0"/>
          </a:p>
        </p:txBody>
      </p:sp>
      <p:sp>
        <p:nvSpPr>
          <p:cNvPr id="33" name="Text 30"/>
          <p:cNvSpPr/>
          <p:nvPr/>
        </p:nvSpPr>
        <p:spPr>
          <a:xfrm>
            <a:off x="1105224" y="5114069"/>
            <a:ext cx="5847244" cy="280670"/>
          </a:xfrm>
          <a:prstGeom prst="rect">
            <a:avLst/>
          </a:prstGeom>
          <a:noFill/>
          <a:ln/>
        </p:spPr>
        <p:txBody>
          <a:bodyPr wrap="square" lIns="0" tIns="0" rIns="0" bIns="0" rtlCol="0" anchor="t"/>
          <a:lstStyle/>
          <a:p>
            <a:pPr indent="0" marL="0">
              <a:lnSpc>
                <a:spcPct val="170000"/>
              </a:lnSpc>
              <a:buNone/>
            </a:pPr>
            <a:r>
              <a:rPr lang="en-US" sz="1300" dirty="0">
                <a:solidFill>
                  <a:srgbClr val="6F7185"/>
                </a:solidFill>
                <a:latin typeface="Heebo Light" pitchFamily="34" charset="0"/>
                <a:ea typeface="Heebo Light" pitchFamily="34" charset="-122"/>
                <a:cs typeface="Heebo Light" pitchFamily="34" charset="-120"/>
              </a:rPr>
              <a:t>International background checks by independent firms</a:t>
            </a:r>
            <a:endParaRPr lang="en-US" sz="1300" dirty="0"/>
          </a:p>
        </p:txBody>
      </p:sp>
      <p:sp>
        <p:nvSpPr>
          <p:cNvPr id="34" name="Shape 31"/>
          <p:cNvSpPr/>
          <p:nvPr/>
        </p:nvSpPr>
        <p:spPr>
          <a:xfrm>
            <a:off x="609620" y="5568475"/>
            <a:ext cx="6342849" cy="0"/>
          </a:xfrm>
          <a:prstGeom prst="line">
            <a:avLst/>
          </a:prstGeom>
          <a:noFill/>
          <a:ln w="9525">
            <a:solidFill>
              <a:srgbClr val="ECEDF5"/>
            </a:solidFill>
            <a:prstDash val="solid"/>
          </a:ln>
        </p:spPr>
      </p:sp>
      <p:sp>
        <p:nvSpPr>
          <p:cNvPr id="35" name="Shape 32"/>
          <p:cNvSpPr/>
          <p:nvPr/>
        </p:nvSpPr>
        <p:spPr>
          <a:xfrm>
            <a:off x="609620" y="5742211"/>
            <a:ext cx="267005" cy="267005"/>
          </a:xfrm>
          <a:prstGeom prst="ellipse">
            <a:avLst/>
          </a:prstGeom>
          <a:solidFill>
            <a:srgbClr val="3D51E8"/>
          </a:solidFill>
          <a:ln/>
        </p:spPr>
      </p:sp>
      <p:sp>
        <p:nvSpPr>
          <p:cNvPr id="36" name="Text 33"/>
          <p:cNvSpPr/>
          <p:nvPr/>
        </p:nvSpPr>
        <p:spPr>
          <a:xfrm>
            <a:off x="609620" y="5742211"/>
            <a:ext cx="267005" cy="267005"/>
          </a:xfrm>
          <a:prstGeom prst="rect">
            <a:avLst/>
          </a:prstGeom>
          <a:noFill/>
          <a:ln/>
        </p:spPr>
        <p:txBody>
          <a:bodyPr wrap="square" lIns="0" tIns="0" rIns="0" bIns="0" rtlCol="0" anchor="ctr"/>
          <a:lstStyle/>
          <a:p>
            <a:pPr algn="ctr" indent="0" marL="0">
              <a:buNone/>
            </a:pPr>
            <a:r>
              <a:rPr lang="en-US" sz="900" dirty="0">
                <a:solidFill>
                  <a:srgbClr val="FFFFFF"/>
                </a:solidFill>
                <a:latin typeface="Heebo Bold" pitchFamily="34" charset="0"/>
                <a:ea typeface="Heebo Bold" pitchFamily="34" charset="-122"/>
                <a:cs typeface="Heebo Bold" pitchFamily="34" charset="-120"/>
              </a:rPr>
              <a:t>06</a:t>
            </a:r>
            <a:endParaRPr lang="en-US" sz="900" dirty="0"/>
          </a:p>
        </p:txBody>
      </p:sp>
      <p:sp>
        <p:nvSpPr>
          <p:cNvPr id="37" name="Text 34"/>
          <p:cNvSpPr/>
          <p:nvPr/>
        </p:nvSpPr>
        <p:spPr>
          <a:xfrm>
            <a:off x="1105224" y="5723923"/>
            <a:ext cx="5847244" cy="256032"/>
          </a:xfrm>
          <a:prstGeom prst="rect">
            <a:avLst/>
          </a:prstGeom>
          <a:noFill/>
          <a:ln/>
        </p:spPr>
        <p:txBody>
          <a:bodyPr wrap="square" lIns="0" tIns="0" rIns="0" bIns="0" rtlCol="0" anchor="t"/>
          <a:lstStyle/>
          <a:p>
            <a:pPr indent="0" marL="0">
              <a:buNone/>
            </a:pPr>
            <a:r>
              <a:rPr lang="en-US" sz="1800" dirty="0">
                <a:solidFill>
                  <a:srgbClr val="16182A"/>
                </a:solidFill>
                <a:latin typeface="Yrsa" pitchFamily="34" charset="0"/>
                <a:ea typeface="Yrsa" pitchFamily="34" charset="-122"/>
                <a:cs typeface="Yrsa" pitchFamily="34" charset="-120"/>
              </a:rPr>
              <a:t>Passport Issued</a:t>
            </a:r>
            <a:endParaRPr lang="en-US" sz="1800" dirty="0"/>
          </a:p>
        </p:txBody>
      </p:sp>
      <p:sp>
        <p:nvSpPr>
          <p:cNvPr id="38" name="Text 35"/>
          <p:cNvSpPr/>
          <p:nvPr/>
        </p:nvSpPr>
        <p:spPr>
          <a:xfrm>
            <a:off x="1105224" y="5970811"/>
            <a:ext cx="5847244" cy="280670"/>
          </a:xfrm>
          <a:prstGeom prst="rect">
            <a:avLst/>
          </a:prstGeom>
          <a:noFill/>
          <a:ln/>
        </p:spPr>
        <p:txBody>
          <a:bodyPr wrap="square" lIns="0" tIns="0" rIns="0" bIns="0" rtlCol="0" anchor="t"/>
          <a:lstStyle/>
          <a:p>
            <a:pPr indent="0" marL="0">
              <a:lnSpc>
                <a:spcPct val="170000"/>
              </a:lnSpc>
              <a:buNone/>
            </a:pPr>
            <a:r>
              <a:rPr lang="en-US" sz="1300" dirty="0">
                <a:solidFill>
                  <a:srgbClr val="6F7185"/>
                </a:solidFill>
                <a:latin typeface="Heebo Light" pitchFamily="34" charset="0"/>
                <a:ea typeface="Heebo Light" pitchFamily="34" charset="-122"/>
                <a:cs typeface="Heebo Light" pitchFamily="34" charset="-120"/>
              </a:rPr>
              <a:t>Citizenship certificate &amp; biometric passport issued</a:t>
            </a:r>
            <a:endParaRPr lang="en-US" sz="1300" dirty="0"/>
          </a:p>
        </p:txBody>
      </p:sp>
      <p:sp>
        <p:nvSpPr>
          <p:cNvPr id="39" name="Shape 36"/>
          <p:cNvSpPr/>
          <p:nvPr/>
        </p:nvSpPr>
        <p:spPr>
          <a:xfrm>
            <a:off x="609620" y="6425217"/>
            <a:ext cx="6342849" cy="0"/>
          </a:xfrm>
          <a:prstGeom prst="line">
            <a:avLst/>
          </a:prstGeom>
          <a:noFill/>
          <a:ln w="9525">
            <a:solidFill>
              <a:srgbClr val="ECEDF5"/>
            </a:solidFill>
            <a:prstDash val="solid"/>
          </a:ln>
        </p:spPr>
      </p:sp>
      <p:sp>
        <p:nvSpPr>
          <p:cNvPr id="40" name="Text 37"/>
          <p:cNvSpPr/>
          <p:nvPr/>
        </p:nvSpPr>
        <p:spPr>
          <a:xfrm>
            <a:off x="609620" y="6425217"/>
            <a:ext cx="6342849" cy="528638"/>
          </a:xfrm>
          <a:prstGeom prst="rect">
            <a:avLst/>
          </a:prstGeom>
          <a:noFill/>
          <a:ln/>
        </p:spPr>
        <p:txBody>
          <a:bodyPr wrap="square" lIns="0" tIns="0" rIns="0" bIns="0" rtlCol="0" anchor="t"/>
          <a:lstStyle/>
          <a:p>
            <a:pPr indent="0" marL="0">
              <a:lnSpc>
                <a:spcPct val="185000"/>
              </a:lnSpc>
              <a:buNone/>
            </a:pPr>
            <a:r>
              <a:rPr lang="en-US" sz="1125" dirty="0">
                <a:solidFill>
                  <a:srgbClr val="4B4E65"/>
                </a:solidFill>
                <a:latin typeface="Heebo Light" pitchFamily="34" charset="0"/>
                <a:ea typeface="Heebo Light" pitchFamily="34" charset="-122"/>
                <a:cs typeface="Heebo Light" pitchFamily="34" charset="-120"/>
              </a:rPr>
              <a:t>For informational purposes only. Investment amounts and conditions subject to change. Always consult an authorised agent.</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Users/victortorres/Library/Application Support/Claude/local-agent-mode-sessions/skills-plugin/d3e5681c-1000-4051-bb23-bb4f6aee7624/c3107115-7538-4e27-8275-14cfa1f9e1e7/skills/design-brochure-builder/assets/logos/GCS-Primary-White.png">    </p:cNvPr>
          <p:cNvPicPr>
            <a:picLocks noChangeAspect="1"/>
          </p:cNvPicPr>
          <p:nvPr/>
        </p:nvPicPr>
        <p:blipFill>
          <a:blip r:embed="rId2"/>
          <a:stretch>
            <a:fillRect/>
          </a:stretch>
        </p:blipFill>
        <p:spPr>
          <a:xfrm>
            <a:off x="533417" y="533417"/>
            <a:ext cx="545897" cy="194767"/>
          </a:xfrm>
          <a:prstGeom prst="rect">
            <a:avLst/>
          </a:prstGeom>
        </p:spPr>
      </p:pic>
      <p:sp>
        <p:nvSpPr>
          <p:cNvPr id="3" name="Text 0"/>
          <p:cNvSpPr/>
          <p:nvPr/>
        </p:nvSpPr>
        <p:spPr>
          <a:xfrm>
            <a:off x="533417" y="6141703"/>
            <a:ext cx="6495254" cy="914400"/>
          </a:xfrm>
          <a:prstGeom prst="rect">
            <a:avLst/>
          </a:prstGeom>
          <a:noFill/>
          <a:ln/>
        </p:spPr>
        <p:txBody>
          <a:bodyPr wrap="square" lIns="0" tIns="0" rIns="0" bIns="0" rtlCol="0" anchor="t"/>
          <a:lstStyle/>
          <a:p>
            <a:pPr indent="0" marL="0">
              <a:buNone/>
            </a:pPr>
            <a:r>
              <a:rPr lang="en-US" sz="6800" spc="-150" kern="0" dirty="0">
                <a:solidFill>
                  <a:srgbClr val="FFFFFF"/>
                </a:solidFill>
                <a:latin typeface="Yrsa" pitchFamily="34" charset="0"/>
                <a:ea typeface="Yrsa" pitchFamily="34" charset="-122"/>
                <a:cs typeface="Yrsa" pitchFamily="34" charset="-120"/>
              </a:rPr>
              <a:t>Our Global</a:t>
            </a:r>
            <a:endParaRPr lang="en-US" sz="6800" dirty="0"/>
          </a:p>
        </p:txBody>
      </p:sp>
      <p:sp>
        <p:nvSpPr>
          <p:cNvPr id="4" name="Text 1"/>
          <p:cNvSpPr/>
          <p:nvPr/>
        </p:nvSpPr>
        <p:spPr>
          <a:xfrm>
            <a:off x="533417" y="7056103"/>
            <a:ext cx="6495254" cy="914400"/>
          </a:xfrm>
          <a:prstGeom prst="rect">
            <a:avLst/>
          </a:prstGeom>
          <a:noFill/>
          <a:ln/>
        </p:spPr>
        <p:txBody>
          <a:bodyPr wrap="square" lIns="0" tIns="0" rIns="0" bIns="0" rtlCol="0" anchor="t"/>
          <a:lstStyle/>
          <a:p>
            <a:pPr indent="0" marL="0">
              <a:buNone/>
            </a:pPr>
            <a:r>
              <a:rPr lang="en-US" sz="6800" i="1" spc="-150" kern="0" dirty="0">
                <a:solidFill>
                  <a:srgbClr val="B3B5CD"/>
                </a:solidFill>
                <a:latin typeface="Yrsa" pitchFamily="34" charset="0"/>
                <a:ea typeface="Yrsa" pitchFamily="34" charset="-122"/>
                <a:cs typeface="Yrsa" pitchFamily="34" charset="-120"/>
              </a:rPr>
              <a:t>Presence.</a:t>
            </a:r>
            <a:endParaRPr lang="en-US" sz="6800" dirty="0"/>
          </a:p>
        </p:txBody>
      </p:sp>
      <p:sp>
        <p:nvSpPr>
          <p:cNvPr id="5" name="Text 2"/>
          <p:cNvSpPr/>
          <p:nvPr/>
        </p:nvSpPr>
        <p:spPr>
          <a:xfrm>
            <a:off x="533417" y="8098519"/>
            <a:ext cx="4956048" cy="384048"/>
          </a:xfrm>
          <a:prstGeom prst="rect">
            <a:avLst/>
          </a:prstGeom>
          <a:noFill/>
          <a:ln/>
        </p:spPr>
        <p:txBody>
          <a:bodyPr wrap="square" lIns="0" tIns="0" rIns="0" bIns="0" rtlCol="0" anchor="t"/>
          <a:lstStyle/>
          <a:p>
            <a:pPr indent="0" marL="0">
              <a:lnSpc>
                <a:spcPct val="160000"/>
              </a:lnSpc>
              <a:buNone/>
            </a:pPr>
            <a:r>
              <a:rPr lang="en-US" sz="1050" dirty="0">
                <a:solidFill>
                  <a:srgbClr val="A6A9C4"/>
                </a:solidFill>
                <a:latin typeface="Heebo" pitchFamily="34" charset="0"/>
                <a:ea typeface="Heebo" pitchFamily="34" charset="-122"/>
                <a:cs typeface="Heebo" pitchFamily="34" charset="-120"/>
              </a:rPr>
              <a:t>We operate globally, with teams supporting clients across different regions, both through local offices and dedicated contact points.</a:t>
            </a:r>
            <a:endParaRPr lang="en-US" sz="1050" dirty="0"/>
          </a:p>
        </p:txBody>
      </p:sp>
      <p:pic>
        <p:nvPicPr>
          <p:cNvPr id="6" name="Image 1" descr="/Users/victortorres/Library/Application Support/Claude/local-agent-mode-sessions/skills-plugin/d3e5681c-1000-4051-bb23-bb4f6aee7624/c3107115-7538-4e27-8275-14cfa1f9e1e7/skills/design-brochure-builder/assets/icons/pin.png">    </p:cNvPr>
          <p:cNvPicPr>
            <a:picLocks noChangeAspect="1"/>
          </p:cNvPicPr>
          <p:nvPr/>
        </p:nvPicPr>
        <p:blipFill>
          <a:blip r:embed="rId3"/>
          <a:stretch>
            <a:fillRect/>
          </a:stretch>
        </p:blipFill>
        <p:spPr>
          <a:xfrm>
            <a:off x="533417" y="8766031"/>
            <a:ext cx="173736" cy="190195"/>
          </a:xfrm>
          <a:prstGeom prst="rect">
            <a:avLst/>
          </a:prstGeom>
        </p:spPr>
      </p:pic>
      <p:sp>
        <p:nvSpPr>
          <p:cNvPr id="7" name="Text 3"/>
          <p:cNvSpPr/>
          <p:nvPr/>
        </p:nvSpPr>
        <p:spPr>
          <a:xfrm>
            <a:off x="780305" y="8738599"/>
            <a:ext cx="6248366" cy="320040"/>
          </a:xfrm>
          <a:prstGeom prst="rect">
            <a:avLst/>
          </a:prstGeom>
          <a:noFill/>
          <a:ln/>
        </p:spPr>
        <p:txBody>
          <a:bodyPr wrap="square" lIns="0" tIns="0" rIns="0" bIns="0" rtlCol="0" anchor="t"/>
          <a:lstStyle/>
          <a:p>
            <a:pPr indent="0" marL="0">
              <a:lnSpc>
                <a:spcPct val="165000"/>
              </a:lnSpc>
              <a:buNone/>
            </a:pPr>
            <a:r>
              <a:rPr lang="en-US" sz="1125" spc="30" kern="0" dirty="0">
                <a:solidFill>
                  <a:srgbClr val="FFFFFF"/>
                </a:solidFill>
                <a:latin typeface="Heebo" pitchFamily="34" charset="0"/>
                <a:ea typeface="Heebo" pitchFamily="34" charset="-122"/>
                <a:cs typeface="Heebo" pitchFamily="34" charset="-120"/>
              </a:rPr>
              <a:t>ANTIGUA AND BARBUDA | BRAZIL | DUBAI | GRENADA | ITALY | MALTA | PORTUGAL | SPAIN | ST. LUCIA | SWITZERLAND | TURKEY | UNITED KINGDOM | VANUATU</a:t>
            </a:r>
            <a:endParaRPr lang="en-US" sz="1125" dirty="0"/>
          </a:p>
        </p:txBody>
      </p:sp>
      <p:sp>
        <p:nvSpPr>
          <p:cNvPr id="8" name="Shape 4"/>
          <p:cNvSpPr/>
          <p:nvPr/>
        </p:nvSpPr>
        <p:spPr>
          <a:xfrm>
            <a:off x="533417" y="9314671"/>
            <a:ext cx="6495254" cy="0"/>
          </a:xfrm>
          <a:prstGeom prst="line">
            <a:avLst/>
          </a:prstGeom>
          <a:noFill/>
          <a:ln w="9525">
            <a:solidFill>
              <a:srgbClr val="1A2268"/>
            </a:solidFill>
            <a:prstDash val="solid"/>
          </a:ln>
        </p:spPr>
      </p:sp>
      <p:sp>
        <p:nvSpPr>
          <p:cNvPr id="9" name="Text 5"/>
          <p:cNvSpPr/>
          <p:nvPr/>
        </p:nvSpPr>
        <p:spPr>
          <a:xfrm>
            <a:off x="533417" y="9406111"/>
            <a:ext cx="3572390" cy="182880"/>
          </a:xfrm>
          <a:prstGeom prst="rect">
            <a:avLst/>
          </a:prstGeom>
          <a:noFill/>
          <a:ln/>
        </p:spPr>
        <p:txBody>
          <a:bodyPr wrap="square" lIns="0" tIns="0" rIns="0" bIns="0" rtlCol="0" anchor="ctr"/>
          <a:lstStyle/>
          <a:p>
            <a:pPr indent="0" marL="0">
              <a:buNone/>
            </a:pPr>
            <a:r>
              <a:rPr lang="en-US" sz="825" spc="220" kern="0" dirty="0">
                <a:solidFill>
                  <a:srgbClr val="A6A9C4"/>
                </a:solidFill>
                <a:latin typeface="Heebo" pitchFamily="34" charset="0"/>
                <a:ea typeface="Heebo" pitchFamily="34" charset="-122"/>
                <a:cs typeface="Heebo" pitchFamily="34" charset="-120"/>
              </a:rPr>
              <a:t>GLOBALCITIZENSOLUTIONS.COM</a:t>
            </a:r>
            <a:endParaRPr lang="en-US" sz="825" dirty="0"/>
          </a:p>
        </p:txBody>
      </p:sp>
      <p:pic>
        <p:nvPicPr>
          <p:cNvPr id="10" name="Image 2" descr="/Users/victortorres/Library/Application Support/Claude/local-agent-mode-sessions/skills-plugin/d3e5681c-1000-4051-bb23-bb4f6aee7624/c3107115-7538-4e27-8275-14cfa1f9e1e7/skills/design-brochure-builder/assets/icons/linkedin.png">    </p:cNvPr>
          <p:cNvPicPr>
            <a:picLocks noChangeAspect="1"/>
          </p:cNvPicPr>
          <p:nvPr/>
        </p:nvPicPr>
        <p:blipFill>
          <a:blip r:embed="rId4"/>
          <a:stretch>
            <a:fillRect/>
          </a:stretch>
        </p:blipFill>
        <p:spPr>
          <a:xfrm>
            <a:off x="533417" y="9680431"/>
            <a:ext cx="209398" cy="209398"/>
          </a:xfrm>
          <a:prstGeom prst="rect">
            <a:avLst/>
          </a:prstGeom>
        </p:spPr>
      </p:pic>
      <p:pic>
        <p:nvPicPr>
          <p:cNvPr id="11" name="Image 3" descr="/Users/victortorres/Library/Application Support/Claude/local-agent-mode-sessions/skills-plugin/d3e5681c-1000-4051-bb23-bb4f6aee7624/c3107115-7538-4e27-8275-14cfa1f9e1e7/skills/design-brochure-builder/assets/icons/facebook.png">    </p:cNvPr>
          <p:cNvPicPr>
            <a:picLocks noChangeAspect="1"/>
          </p:cNvPicPr>
          <p:nvPr/>
        </p:nvPicPr>
        <p:blipFill>
          <a:blip r:embed="rId5"/>
          <a:stretch>
            <a:fillRect/>
          </a:stretch>
        </p:blipFill>
        <p:spPr>
          <a:xfrm>
            <a:off x="876317" y="9680431"/>
            <a:ext cx="209398" cy="209398"/>
          </a:xfrm>
          <a:prstGeom prst="rect">
            <a:avLst/>
          </a:prstGeom>
        </p:spPr>
      </p:pic>
      <p:pic>
        <p:nvPicPr>
          <p:cNvPr id="12" name="Image 4" descr="/Users/victortorres/Library/Application Support/Claude/local-agent-mode-sessions/skills-plugin/d3e5681c-1000-4051-bb23-bb4f6aee7624/c3107115-7538-4e27-8275-14cfa1f9e1e7/skills/design-brochure-builder/assets/icons/instagram.png">    </p:cNvPr>
          <p:cNvPicPr>
            <a:picLocks noChangeAspect="1"/>
          </p:cNvPicPr>
          <p:nvPr/>
        </p:nvPicPr>
        <p:blipFill>
          <a:blip r:embed="rId6"/>
          <a:stretch>
            <a:fillRect/>
          </a:stretch>
        </p:blipFill>
        <p:spPr>
          <a:xfrm>
            <a:off x="1219217" y="9680431"/>
            <a:ext cx="209398" cy="209398"/>
          </a:xfrm>
          <a:prstGeom prst="rect">
            <a:avLst/>
          </a:prstGeom>
        </p:spPr>
      </p:pic>
      <p:pic>
        <p:nvPicPr>
          <p:cNvPr id="13" name="Image 5" descr="/Users/victortorres/Library/Application Support/Claude/local-agent-mode-sessions/skills-plugin/d3e5681c-1000-4051-bb23-bb4f6aee7624/c3107115-7538-4e27-8275-14cfa1f9e1e7/skills/design-brochure-builder/assets/icons/youtube.png">    </p:cNvPr>
          <p:cNvPicPr>
            <a:picLocks noChangeAspect="1"/>
          </p:cNvPicPr>
          <p:nvPr/>
        </p:nvPicPr>
        <p:blipFill>
          <a:blip r:embed="rId7"/>
          <a:stretch>
            <a:fillRect/>
          </a:stretch>
        </p:blipFill>
        <p:spPr>
          <a:xfrm>
            <a:off x="1562117" y="9680431"/>
            <a:ext cx="209398" cy="209398"/>
          </a:xfrm>
          <a:prstGeom prst="rect">
            <a:avLst/>
          </a:prstGeom>
        </p:spPr>
      </p:pic>
      <p:sp>
        <p:nvSpPr>
          <p:cNvPr id="14" name="Text 6"/>
          <p:cNvSpPr/>
          <p:nvPr/>
        </p:nvSpPr>
        <p:spPr>
          <a:xfrm>
            <a:off x="4105807" y="9406111"/>
            <a:ext cx="2922864" cy="365760"/>
          </a:xfrm>
          <a:prstGeom prst="rect">
            <a:avLst/>
          </a:prstGeom>
          <a:noFill/>
          <a:ln/>
        </p:spPr>
        <p:txBody>
          <a:bodyPr wrap="square" lIns="0" tIns="0" rIns="0" bIns="0" rtlCol="0" anchor="ctr"/>
          <a:lstStyle/>
          <a:p>
            <a:pPr algn="r" indent="0" marL="0">
              <a:lnSpc>
                <a:spcPct val="150000"/>
              </a:lnSpc>
              <a:buNone/>
            </a:pPr>
            <a:r>
              <a:rPr lang="en-US" sz="975" dirty="0">
                <a:solidFill>
                  <a:srgbClr val="FFFFFF"/>
                </a:solidFill>
                <a:latin typeface="Heebo" pitchFamily="34" charset="0"/>
                <a:ea typeface="Heebo" pitchFamily="34" charset="-122"/>
                <a:cs typeface="Heebo" pitchFamily="34" charset="-120"/>
              </a:rPr>
              <a:t>Studio 5 Richmond Road, Kingston-Upon-Thames</a:t>
            </a:r>
            <a:endParaRPr lang="en-US" sz="975" dirty="0"/>
          </a:p>
          <a:p>
            <a:pPr algn="r" indent="0" marL="0">
              <a:lnSpc>
                <a:spcPct val="150000"/>
              </a:lnSpc>
              <a:buNone/>
            </a:pPr>
            <a:r>
              <a:rPr lang="en-US" sz="975" dirty="0">
                <a:solidFill>
                  <a:srgbClr val="FFFFFF"/>
                </a:solidFill>
                <a:latin typeface="Heebo" pitchFamily="34" charset="0"/>
                <a:ea typeface="Heebo" pitchFamily="34" charset="-122"/>
                <a:cs typeface="Heebo" pitchFamily="34" charset="-120"/>
              </a:rPr>
              <a:t>KT2 5BX — United Kingdom</a:t>
            </a:r>
            <a:endParaRPr lang="en-US" sz="975" dirty="0"/>
          </a:p>
        </p:txBody>
      </p:sp>
      <p:sp>
        <p:nvSpPr>
          <p:cNvPr id="15" name="Text 7"/>
          <p:cNvSpPr/>
          <p:nvPr/>
        </p:nvSpPr>
        <p:spPr>
          <a:xfrm>
            <a:off x="4105807" y="9771871"/>
            <a:ext cx="2922864" cy="365760"/>
          </a:xfrm>
          <a:prstGeom prst="rect">
            <a:avLst/>
          </a:prstGeom>
          <a:noFill/>
          <a:ln/>
        </p:spPr>
        <p:txBody>
          <a:bodyPr wrap="square" lIns="0" tIns="0" rIns="0" bIns="0" rtlCol="0" anchor="ctr"/>
          <a:lstStyle/>
          <a:p>
            <a:pPr algn="r" indent="0" marL="0">
              <a:lnSpc>
                <a:spcPct val="150000"/>
              </a:lnSpc>
              <a:buNone/>
            </a:pPr>
            <a:r>
              <a:rPr lang="en-US" sz="975" dirty="0">
                <a:solidFill>
                  <a:srgbClr val="FFFFFF"/>
                </a:solidFill>
                <a:latin typeface="Heebo" pitchFamily="34" charset="0"/>
                <a:ea typeface="Heebo" pitchFamily="34" charset="-122"/>
                <a:cs typeface="Heebo" pitchFamily="34" charset="-120"/>
              </a:rPr>
              <a:t>+44 20 8068 3119</a:t>
            </a:r>
            <a:endParaRPr lang="en-US" sz="975" dirty="0"/>
          </a:p>
          <a:p>
            <a:pPr algn="r" indent="0" marL="0">
              <a:lnSpc>
                <a:spcPct val="150000"/>
              </a:lnSpc>
              <a:buNone/>
            </a:pPr>
            <a:r>
              <a:rPr lang="en-US" sz="975" dirty="0">
                <a:solidFill>
                  <a:srgbClr val="FFFFFF"/>
                </a:solidFill>
                <a:latin typeface="Heebo" pitchFamily="34" charset="0"/>
                <a:ea typeface="Heebo" pitchFamily="34" charset="-122"/>
                <a:cs typeface="Heebo" pitchFamily="34" charset="-120"/>
              </a:rPr>
              <a:t>info@globalcitizensolutions.com</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 Brochure</dc:title>
  <dc:subject>PptxGenJS Presentation</dc:subject>
  <dc:creator>Global Citizen Solutions</dc:creator>
  <cp:lastModifiedBy>Global Citizen Solutions</cp:lastModifiedBy>
  <cp:revision>1</cp:revision>
  <dcterms:created xsi:type="dcterms:W3CDTF">2026-09-26T19:46:55Z</dcterms:created>
  <dcterms:modified xsi:type="dcterms:W3CDTF">2026-09-26T19:46:55Z</dcterms:modified>
</cp:coreProperties>
</file>